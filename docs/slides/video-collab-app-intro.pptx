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Collab is a working web product, productized from the video-collab-probe research platform built with 10 blind or low-vision creator + sighted helper pairs (UCL × Senses Hub). The screenshot on the right is the creator's phone view of a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agency within collaboration. The app does not replace the helper — it restores the creator's control over what happens to their footage. The three routing options are the heart of the interaction model and come straight from the study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boring, replaceable infrastructure: an SPA + a managed Postgres platform + one Node service. The interesting engineering is in the accessibility layer and the media/AI pipeline, not in exotic infra. Direct browser-to-Supabase traffic keeps latency low; the Express server exists exactly where secrets or heavy compute are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progressive detail levels per scene, generated during processing and stored per level with model provenance. Originally descriptions came from a single midpoint keyframe; that missed motion, speech and the most informative moment, so the pipeline now sends the downscaled scene clip with audio to Gemini, with an automatic keyframe fallback and an env kill-switch. The prompt style guide is written for screen-reader directness: no 'the video shows', hedging only under real uncertainty, on-screen text quoted verbatim only when legible.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model applies uniformly: manual edits, delegated tasks, AI edits, and even AI suggestions all flow through the same three-way choice, so the creator always decides who acts. Suggestions are deliberately capped at three 12–30-word sentences to keep audio-first consumption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is engineered, not assumed: the model's output is treated as a proposal. Whitelisting + range-clamping happens server-side; the spoken summary is deterministic so the screen-reader user hears exactly what will happen; and the timeline is untouched until an explicit Confirm. A single shared module (fixActions.js) defines the AI-fixable operations and their numeric ranges for BOTH Ask-AI-to-Edit and the suggestions fix templates, so the two features can never validate differently. The dialog itself is a focus-trapped role=alertdialog; Escape cancels.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architecture: durable data flows through Postgres and fans out via postgres_changes (RLS applies to the change stream too); transient signals use broadcast; presence powers join/leave announcements. The versioned-state design accepts last-writer-wins at two-person scale but the version check prevents silent clobbering. The same route mounts CreatorDevice or HelperDevice based on the member's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patterns were carried verbatim from the research probe — the porting spec literally states 'Accessibility is the product: preserve the probe's screen-reader contracts verbatim.' Adversarial design reviews treated stranded focus as a critical bug. More depth if asked: expanding a scene pushes a history entry so the hardware Back gesture collapses it instead of leaving the editor; a 'Paused on scene N' read-out is assertive because TalkBack drops polite writes while re-reading a just-activated button; the announcer clears itself after 2 s so re-focusing never re-reads stale messages; the mic flow announces only when the mic is actually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Segmentation re-encodes because phone-video keyframes can be 5–10 seconds apart — stream-copying at cut points would produce broken scenes. Mute is implemented as volume=0 rather than stripping the audio stream, so the final concat stays uniform.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threat model assumes a compromised or malicious client: the database enforces the allowlist and membership, the server re-verifies identity and membership on every route, and anything a member can write is sanitized before it parameterizes FFmpeg. Join codes replaced invite links because a code can be spoken aloud between two people in the same room — an accessibility-driven security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screenshots in this deck are frames from that scripted Playwright b-roll — the same pipeline that builds the 60-second demo film. Reproducibility applies to outreach artifacts, not just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arc: research probe → product → pilot. The technical stack is deliberately mainstream so the novel parts — the audio-first editing model, confirm-first AI, and two-device realtime collaboration — carry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C1D95"/>
          </a:solidFill>
          <a:ln/>
        </p:spPr>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BG">
    <p:bg>
      <p:bgPr>
        <a:solidFill>
          <a:srgbClr val="271A5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BB8F0"/>
                </a:solidFill>
                <a:latin typeface="Segoe UI"/>
                <a:ea typeface="Segoe UI"/>
                <a:cs typeface="Segoe U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960120"/>
            <a:ext cx="6949440" cy="365760"/>
          </a:xfrm>
          <a:prstGeom prst="rect">
            <a:avLst/>
          </a:prstGeom>
          <a:noFill/>
          <a:ln/>
        </p:spPr>
        <p:txBody>
          <a:bodyPr wrap="square" rtlCol="0" anchor="ctr"/>
          <a:lstStyle/>
          <a:p>
            <a:pPr indent="0" marL="0">
              <a:buNone/>
            </a:pPr>
            <a:r>
              <a:rPr lang="en-US" sz="1400" b="1" spc="250" kern="0" dirty="0">
                <a:solidFill>
                  <a:srgbClr val="7DE8D3"/>
                </a:solidFill>
                <a:latin typeface="Segoe UI" pitchFamily="34" charset="0"/>
                <a:ea typeface="Segoe UI" pitchFamily="34" charset="-122"/>
                <a:cs typeface="Segoe UI" pitchFamily="34" charset="-120"/>
              </a:rPr>
              <a:t>VIDEO COLLAB · UCL × SENSES HUB</a:t>
            </a:r>
            <a:endParaRPr lang="en-US" sz="1400" dirty="0"/>
          </a:p>
        </p:txBody>
      </p:sp>
      <p:sp>
        <p:nvSpPr>
          <p:cNvPr id="3" name="Text 1"/>
          <p:cNvSpPr/>
          <p:nvPr/>
        </p:nvSpPr>
        <p:spPr>
          <a:xfrm>
            <a:off x="822960" y="1417320"/>
            <a:ext cx="6858000" cy="1554480"/>
          </a:xfrm>
          <a:prstGeom prst="rect">
            <a:avLst/>
          </a:prstGeom>
          <a:noFill/>
          <a:ln/>
        </p:spPr>
        <p:txBody>
          <a:bodyPr wrap="square" rtlCol="0" anchor="ctr"/>
          <a:lstStyle/>
          <a:p>
            <a:pPr indent="0" marL="0">
              <a:buNone/>
            </a:pPr>
            <a:r>
              <a:rPr lang="en-US" sz="4400" b="1" dirty="0">
                <a:solidFill>
                  <a:srgbClr val="FFFFFF"/>
                </a:solidFill>
                <a:latin typeface="Segoe UI" pitchFamily="34" charset="0"/>
                <a:ea typeface="Segoe UI" pitchFamily="34" charset="-122"/>
                <a:cs typeface="Segoe UI" pitchFamily="34" charset="-120"/>
              </a:rPr>
              <a:t>Editing video, together.</a:t>
            </a:r>
            <a:endParaRPr lang="en-US" sz="4400" dirty="0"/>
          </a:p>
        </p:txBody>
      </p:sp>
      <p:sp>
        <p:nvSpPr>
          <p:cNvPr id="4" name="Text 2"/>
          <p:cNvSpPr/>
          <p:nvPr/>
        </p:nvSpPr>
        <p:spPr>
          <a:xfrm>
            <a:off x="822960" y="3063240"/>
            <a:ext cx="6400800" cy="1463040"/>
          </a:xfrm>
          <a:prstGeom prst="rect">
            <a:avLst/>
          </a:prstGeom>
          <a:noFill/>
          <a:ln/>
        </p:spPr>
        <p:txBody>
          <a:bodyPr wrap="square" rtlCol="0" anchor="ctr"/>
          <a:lstStyle/>
          <a:p>
            <a:pPr indent="0" marL="0">
              <a:lnSpc>
                <a:spcPct val="120000"/>
              </a:lnSpc>
              <a:buNone/>
            </a:pPr>
            <a:r>
              <a:rPr lang="en-US" sz="2000" dirty="0">
                <a:solidFill>
                  <a:srgbClr val="CBB8F0"/>
                </a:solidFill>
                <a:latin typeface="Segoe UI" pitchFamily="34" charset="0"/>
                <a:ea typeface="Segoe UI" pitchFamily="34" charset="-122"/>
                <a:cs typeface="Segoe UI" pitchFamily="34" charset="-120"/>
              </a:rPr>
              <a:t>A collaborative video editor where blind and low-vision creators direct the edit — with a sighted helper on a second device and AI assistance that always asks first.</a:t>
            </a:r>
            <a:endParaRPr lang="en-US" sz="2000" dirty="0"/>
          </a:p>
        </p:txBody>
      </p:sp>
      <p:sp>
        <p:nvSpPr>
          <p:cNvPr id="5" name="Text 3"/>
          <p:cNvSpPr/>
          <p:nvPr/>
        </p:nvSpPr>
        <p:spPr>
          <a:xfrm>
            <a:off x="822960" y="5257800"/>
            <a:ext cx="6400800" cy="457200"/>
          </a:xfrm>
          <a:prstGeom prst="rect">
            <a:avLst/>
          </a:prstGeom>
          <a:noFill/>
          <a:ln/>
        </p:spPr>
        <p:txBody>
          <a:bodyPr wrap="square"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React 19 · Vite · Supabase · Express 5 · FFmpeg · Gemini 2.5 Flash</a:t>
            </a:r>
            <a:endParaRPr lang="en-US" sz="1500" dirty="0"/>
          </a:p>
        </p:txBody>
      </p:sp>
      <p:pic>
        <p:nvPicPr>
          <p:cNvPr id="6" name="Image 0" descr="Screenshot of the mobile editor. A video player shows a living room. Below it: a purple button labelled Analyse with AI, a status line reading 3 scenes created, the total length is 14 seconds, and a Scene 1 card with a one-sentence description and three detail tabs — Overview (selected), Detailed, Technical — plus Play this scene. A purple Export video button sits at the bottom.">    </p:cNvPr>
          <p:cNvPicPr>
            <a:picLocks noChangeAspect="1"/>
          </p:cNvPicPr>
          <p:nvPr/>
        </p:nvPicPr>
        <p:blipFill>
          <a:blip r:embed="rId1"/>
          <a:stretch>
            <a:fillRect/>
          </a:stretch>
        </p:blipFill>
        <p:spPr>
          <a:xfrm>
            <a:off x="8001000" y="822960"/>
            <a:ext cx="3947611" cy="5212080"/>
          </a:xfrm>
          <a:prstGeom prst="rect">
            <a:avLst/>
          </a:prstGeom>
        </p:spPr>
      </p:pic>
      <p:sp>
        <p:nvSpPr>
          <p:cNvPr id="7" name="Shape 4"/>
          <p:cNvSpPr/>
          <p:nvPr/>
        </p:nvSpPr>
        <p:spPr>
          <a:xfrm>
            <a:off x="7973568" y="795528"/>
            <a:ext cx="4002475" cy="5266944"/>
          </a:xfrm>
          <a:prstGeom prst="roundRect">
            <a:avLst>
              <a:gd name="adj" fmla="val 1371"/>
            </a:avLst>
          </a:prstGeom>
          <a:ln w="22225">
            <a:solidFill>
              <a:srgbClr val="D8CFEC"/>
            </a:solidFill>
            <a:prstDash val="solid"/>
          </a:ln>
        </p:spPr>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BB8F0"/>
                </a:solidFill>
                <a:latin typeface="Segoe UI"/>
                <a:ea typeface="Segoe UI"/>
                <a:cs typeface="Segoe U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WHY IT EXISTS</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The creator directs; everyone else assists</a:t>
            </a:r>
            <a:endParaRPr lang="en-US" sz="3000" dirty="0"/>
          </a:p>
        </p:txBody>
      </p:sp>
      <p:sp>
        <p:nvSpPr>
          <p:cNvPr id="4" name="Text 2"/>
          <p:cNvSpPr/>
          <p:nvPr/>
        </p:nvSpPr>
        <p:spPr>
          <a:xfrm>
            <a:off x="640080" y="1600200"/>
            <a:ext cx="5760720" cy="3108960"/>
          </a:xfrm>
          <a:prstGeom prst="rect">
            <a:avLst/>
          </a:prstGeom>
          <a:noFill/>
          <a:ln/>
        </p:spPr>
        <p:txBody>
          <a:bodyPr wrap="square" rtlCol="0" anchor="t"/>
          <a:lstStyle/>
          <a:p>
            <a:pPr indent="0" marL="0">
              <a:lnSpc>
                <a:spcPct val="118000"/>
              </a:lnSpc>
              <a:spcAft>
                <a:spcPts val="1200"/>
              </a:spcAft>
              <a:buNone/>
            </a:pPr>
            <a:r>
              <a:rPr lang="en-US" sz="1600" dirty="0">
                <a:solidFill>
                  <a:srgbClr val="1F2430"/>
                </a:solidFill>
                <a:latin typeface="Segoe UI" pitchFamily="34" charset="0"/>
                <a:ea typeface="Segoe UI" pitchFamily="34" charset="-122"/>
                <a:cs typeface="Segoe UI" pitchFamily="34" charset="-120"/>
              </a:rPr>
              <a:t>Blind and low-vision (BLV) creators usually have to hand their footage to someone sighted — and lose authorship of their own story.</a:t>
            </a:r>
            <a:endParaRPr lang="en-US" sz="1600" dirty="0"/>
          </a:p>
          <a:p>
            <a:pPr indent="0" marL="0">
              <a:lnSpc>
                <a:spcPct val="118000"/>
              </a:lnSpc>
              <a:spcAft>
                <a:spcPts val="1200"/>
              </a:spcAft>
              <a:buNone/>
            </a:pPr>
            <a:r>
              <a:rPr lang="en-US" sz="1600" dirty="0">
                <a:solidFill>
                  <a:srgbClr val="1F2430"/>
                </a:solidFill>
                <a:latin typeface="Segoe UI" pitchFamily="34" charset="0"/>
                <a:ea typeface="Segoe UI" pitchFamily="34" charset="-122"/>
                <a:cs typeface="Segoe UI" pitchFamily="34" charset="-120"/>
              </a:rPr>
              <a:t>Video Collab keeps the BLV creator in the director's seat. The project lives on their phone; a sighted helper joins from a second device; AI describes footage and makes edits on request.</a:t>
            </a:r>
            <a:endParaRPr lang="en-US" sz="1600" dirty="0"/>
          </a:p>
          <a:p>
            <a:pPr indent="0" marL="0">
              <a:lnSpc>
                <a:spcPct val="118000"/>
              </a:lnSpc>
              <a:buNone/>
            </a:pPr>
            <a:r>
              <a:rPr lang="en-US" sz="1600" dirty="0">
                <a:solidFill>
                  <a:srgbClr val="1F2430"/>
                </a:solidFill>
                <a:latin typeface="Segoe UI" pitchFamily="34" charset="0"/>
                <a:ea typeface="Segoe UI" pitchFamily="34" charset="-122"/>
                <a:cs typeface="Segoe UI" pitchFamily="34" charset="-120"/>
              </a:rPr>
              <a:t>It grew out of a Wizard-of-Oz research probe used by 10 creator–helper pairs in Nairobi, then was productized: real backend, real AI, no researcher in the loop.</a:t>
            </a:r>
            <a:endParaRPr lang="en-US" sz="1600" dirty="0"/>
          </a:p>
        </p:txBody>
      </p:sp>
      <p:sp>
        <p:nvSpPr>
          <p:cNvPr id="5" name="Shape 3"/>
          <p:cNvSpPr/>
          <p:nvPr/>
        </p:nvSpPr>
        <p:spPr>
          <a:xfrm>
            <a:off x="640080" y="5029200"/>
            <a:ext cx="5760720" cy="1225296"/>
          </a:xfrm>
          <a:prstGeom prst="roundRect">
            <a:avLst>
              <a:gd name="adj" fmla="val 5970"/>
            </a:avLst>
          </a:prstGeom>
          <a:solidFill>
            <a:srgbClr val="F4F1FA"/>
          </a:solidFill>
          <a:ln w="12700">
            <a:solidFill>
              <a:srgbClr val="D8CFEC"/>
            </a:solidFill>
            <a:prstDash val="solid"/>
          </a:ln>
        </p:spPr>
      </p:sp>
      <p:sp>
        <p:nvSpPr>
          <p:cNvPr id="6" name="Text 4"/>
          <p:cNvSpPr/>
          <p:nvPr/>
        </p:nvSpPr>
        <p:spPr>
          <a:xfrm>
            <a:off x="868680" y="5138928"/>
            <a:ext cx="5303520" cy="1005840"/>
          </a:xfrm>
          <a:prstGeom prst="rect">
            <a:avLst/>
          </a:prstGeom>
          <a:noFill/>
          <a:ln/>
        </p:spPr>
        <p:txBody>
          <a:bodyPr wrap="square" rtlCol="0" anchor="t"/>
          <a:lstStyle/>
          <a:p>
            <a:pPr indent="0" marL="0">
              <a:spcAft>
                <a:spcPts val="600"/>
              </a:spcAft>
              <a:buNone/>
            </a:pPr>
            <a:r>
              <a:rPr lang="en-US" sz="1700" i="1" dirty="0">
                <a:solidFill>
                  <a:srgbClr val="4C1D95"/>
                </a:solidFill>
                <a:latin typeface="Segoe UI" pitchFamily="34" charset="0"/>
                <a:ea typeface="Segoe UI" pitchFamily="34" charset="-122"/>
                <a:cs typeface="Segoe UI" pitchFamily="34" charset="-120"/>
              </a:rPr>
              <a:t>“Independence is coming… this is the beginning of it.”</a:t>
            </a:r>
            <a:endParaRPr lang="en-US" sz="1700" dirty="0"/>
          </a:p>
          <a:p>
            <a:pPr indent="0" marL="0">
              <a:buNone/>
            </a:pPr>
            <a:r>
              <a:rPr lang="en-US" sz="1300" dirty="0">
                <a:solidFill>
                  <a:srgbClr val="444B5A"/>
                </a:solidFill>
                <a:latin typeface="Segoe UI" pitchFamily="34" charset="0"/>
                <a:ea typeface="Segoe UI" pitchFamily="34" charset="-122"/>
                <a:cs typeface="Segoe UI" pitchFamily="34" charset="-120"/>
              </a:rPr>
              <a:t>— study participant (BLV creator)</a:t>
            </a:r>
            <a:endParaRPr lang="en-US" sz="1700" dirty="0"/>
          </a:p>
        </p:txBody>
      </p:sp>
      <p:sp>
        <p:nvSpPr>
          <p:cNvPr id="7" name="Text 5"/>
          <p:cNvSpPr/>
          <p:nvPr/>
        </p:nvSpPr>
        <p:spPr>
          <a:xfrm>
            <a:off x="6858000" y="1600200"/>
            <a:ext cx="4754880" cy="365760"/>
          </a:xfrm>
          <a:prstGeom prst="rect">
            <a:avLst/>
          </a:prstGeom>
          <a:noFill/>
          <a:ln/>
        </p:spPr>
        <p:txBody>
          <a:bodyPr wrap="square" rtlCol="0" anchor="ctr"/>
          <a:lstStyle/>
          <a:p>
            <a:pPr indent="0" marL="0">
              <a:buNone/>
            </a:pPr>
            <a:r>
              <a:rPr lang="en-US" sz="1500" b="1" dirty="0">
                <a:solidFill>
                  <a:srgbClr val="1F2430"/>
                </a:solidFill>
                <a:latin typeface="Segoe UI" pitchFamily="34" charset="0"/>
                <a:ea typeface="Segoe UI" pitchFamily="34" charset="-122"/>
                <a:cs typeface="Segoe UI" pitchFamily="34" charset="-120"/>
              </a:rPr>
              <a:t>Every edit on every scene offers three routes:</a:t>
            </a:r>
            <a:endParaRPr lang="en-US" sz="1500" dirty="0"/>
          </a:p>
        </p:txBody>
      </p:sp>
      <p:sp>
        <p:nvSpPr>
          <p:cNvPr id="8" name="Shape 6"/>
          <p:cNvSpPr/>
          <p:nvPr/>
        </p:nvSpPr>
        <p:spPr>
          <a:xfrm>
            <a:off x="6858000" y="2103120"/>
            <a:ext cx="4709160" cy="1261872"/>
          </a:xfrm>
          <a:prstGeom prst="roundRect">
            <a:avLst>
              <a:gd name="adj" fmla="val 5797"/>
            </a:avLst>
          </a:prstGeom>
          <a:solidFill>
            <a:srgbClr val="F4F1FA"/>
          </a:solidFill>
          <a:ln w="12700">
            <a:solidFill>
              <a:srgbClr val="D8CFEC"/>
            </a:solidFill>
            <a:prstDash val="solid"/>
          </a:ln>
        </p:spPr>
      </p:sp>
      <p:sp>
        <p:nvSpPr>
          <p:cNvPr id="9" name="Shape 7"/>
          <p:cNvSpPr/>
          <p:nvPr/>
        </p:nvSpPr>
        <p:spPr>
          <a:xfrm>
            <a:off x="6912864" y="2212848"/>
            <a:ext cx="82296" cy="1042416"/>
          </a:xfrm>
          <a:prstGeom prst="roundRect">
            <a:avLst>
              <a:gd name="adj" fmla="val 44444"/>
            </a:avLst>
          </a:prstGeom>
          <a:solidFill>
            <a:srgbClr val="4C1D95"/>
          </a:solidFill>
          <a:ln/>
        </p:spPr>
      </p:sp>
      <p:sp>
        <p:nvSpPr>
          <p:cNvPr id="10" name="Text 8"/>
          <p:cNvSpPr/>
          <p:nvPr/>
        </p:nvSpPr>
        <p:spPr>
          <a:xfrm>
            <a:off x="7114032" y="2194560"/>
            <a:ext cx="4343400" cy="1097280"/>
          </a:xfrm>
          <a:prstGeom prst="rect">
            <a:avLst/>
          </a:prstGeom>
          <a:noFill/>
          <a:ln/>
        </p:spPr>
        <p:txBody>
          <a:bodyPr wrap="square" rtlCol="0" anchor="t"/>
          <a:lstStyle/>
          <a:p>
            <a:pPr indent="0" marL="0">
              <a:lnSpc>
                <a:spcPct val="108000"/>
              </a:lnSpc>
              <a:spcAft>
                <a:spcPts val="400"/>
              </a:spcAft>
              <a:buNone/>
            </a:pPr>
            <a:r>
              <a:rPr lang="en-US" sz="1600" b="1" dirty="0">
                <a:solidFill>
                  <a:srgbClr val="4C1D95"/>
                </a:solidFill>
                <a:latin typeface="Segoe UI" pitchFamily="34" charset="0"/>
                <a:ea typeface="Segoe UI" pitchFamily="34" charset="-122"/>
                <a:cs typeface="Segoe UI" pitchFamily="34" charset="-120"/>
              </a:rPr>
              <a:t>Edit by Myself</a:t>
            </a:r>
            <a:endParaRPr lang="en-US" sz="1600" dirty="0"/>
          </a:p>
          <a:p>
            <a:pPr indent="0" marL="0">
              <a:lnSpc>
                <a:spcPct val="108000"/>
              </a:lnSpc>
              <a:buNone/>
            </a:pPr>
            <a:r>
              <a:rPr lang="en-US" sz="1350" dirty="0">
                <a:solidFill>
                  <a:srgbClr val="1F2430"/>
                </a:solidFill>
                <a:latin typeface="Segoe UI" pitchFamily="34" charset="0"/>
                <a:ea typeface="Segoe UI" pitchFamily="34" charset="-122"/>
                <a:cs typeface="Segoe UI" pitchFamily="34" charset="-120"/>
              </a:rPr>
              <a:t>Big labelled self-edit tools: trim, split, move, delete, captions — fully usable by ear and keyboard.</a:t>
            </a:r>
            <a:endParaRPr lang="en-US" sz="1600" dirty="0"/>
          </a:p>
        </p:txBody>
      </p:sp>
      <p:sp>
        <p:nvSpPr>
          <p:cNvPr id="11" name="Shape 9"/>
          <p:cNvSpPr/>
          <p:nvPr/>
        </p:nvSpPr>
        <p:spPr>
          <a:xfrm>
            <a:off x="6858000" y="3520440"/>
            <a:ext cx="4709160" cy="1261872"/>
          </a:xfrm>
          <a:prstGeom prst="roundRect">
            <a:avLst>
              <a:gd name="adj" fmla="val 5797"/>
            </a:avLst>
          </a:prstGeom>
          <a:solidFill>
            <a:srgbClr val="F4F1FA"/>
          </a:solidFill>
          <a:ln w="12700">
            <a:solidFill>
              <a:srgbClr val="D8CFEC"/>
            </a:solidFill>
            <a:prstDash val="solid"/>
          </a:ln>
        </p:spPr>
      </p:sp>
      <p:sp>
        <p:nvSpPr>
          <p:cNvPr id="12" name="Shape 10"/>
          <p:cNvSpPr/>
          <p:nvPr/>
        </p:nvSpPr>
        <p:spPr>
          <a:xfrm>
            <a:off x="6912864" y="3630168"/>
            <a:ext cx="82296" cy="1042416"/>
          </a:xfrm>
          <a:prstGeom prst="roundRect">
            <a:avLst>
              <a:gd name="adj" fmla="val 44444"/>
            </a:avLst>
          </a:prstGeom>
          <a:solidFill>
            <a:srgbClr val="6D28D9"/>
          </a:solidFill>
          <a:ln/>
        </p:spPr>
      </p:sp>
      <p:sp>
        <p:nvSpPr>
          <p:cNvPr id="13" name="Text 11"/>
          <p:cNvSpPr/>
          <p:nvPr/>
        </p:nvSpPr>
        <p:spPr>
          <a:xfrm>
            <a:off x="7114032" y="3611880"/>
            <a:ext cx="4343400" cy="1097280"/>
          </a:xfrm>
          <a:prstGeom prst="rect">
            <a:avLst/>
          </a:prstGeom>
          <a:noFill/>
          <a:ln/>
        </p:spPr>
        <p:txBody>
          <a:bodyPr wrap="square" rtlCol="0" anchor="t"/>
          <a:lstStyle/>
          <a:p>
            <a:pPr indent="0" marL="0">
              <a:lnSpc>
                <a:spcPct val="108000"/>
              </a:lnSpc>
              <a:spcAft>
                <a:spcPts val="400"/>
              </a:spcAft>
              <a:buNone/>
            </a:pPr>
            <a:r>
              <a:rPr lang="en-US" sz="1600" b="1" dirty="0">
                <a:solidFill>
                  <a:srgbClr val="4C1D95"/>
                </a:solidFill>
                <a:latin typeface="Segoe UI" pitchFamily="34" charset="0"/>
                <a:ea typeface="Segoe UI" pitchFamily="34" charset="-122"/>
                <a:cs typeface="Segoe UI" pitchFamily="34" charset="-120"/>
              </a:rPr>
              <a:t>Ask AI to Edit</a:t>
            </a:r>
            <a:endParaRPr lang="en-US" sz="1600" dirty="0"/>
          </a:p>
          <a:p>
            <a:pPr indent="0" marL="0">
              <a:lnSpc>
                <a:spcPct val="108000"/>
              </a:lnSpc>
              <a:buNone/>
            </a:pPr>
            <a:r>
              <a:rPr lang="en-US" sz="1350" dirty="0">
                <a:solidFill>
                  <a:srgbClr val="1F2430"/>
                </a:solidFill>
                <a:latin typeface="Segoe UI" pitchFamily="34" charset="0"/>
                <a:ea typeface="Segoe UI" pitchFamily="34" charset="-122"/>
                <a:cs typeface="Segoe UI" pitchFamily="34" charset="-120"/>
              </a:rPr>
              <a:t>Natural-language requests mapped to one validated operation, confirmed by voice before anything changes.</a:t>
            </a:r>
            <a:endParaRPr lang="en-US" sz="1600" dirty="0"/>
          </a:p>
        </p:txBody>
      </p:sp>
      <p:sp>
        <p:nvSpPr>
          <p:cNvPr id="14" name="Shape 12"/>
          <p:cNvSpPr/>
          <p:nvPr/>
        </p:nvSpPr>
        <p:spPr>
          <a:xfrm>
            <a:off x="6858000" y="4937760"/>
            <a:ext cx="4709160" cy="1261872"/>
          </a:xfrm>
          <a:prstGeom prst="roundRect">
            <a:avLst>
              <a:gd name="adj" fmla="val 5797"/>
            </a:avLst>
          </a:prstGeom>
          <a:solidFill>
            <a:srgbClr val="F4F1FA"/>
          </a:solidFill>
          <a:ln w="12700">
            <a:solidFill>
              <a:srgbClr val="D8CFEC"/>
            </a:solidFill>
            <a:prstDash val="solid"/>
          </a:ln>
        </p:spPr>
      </p:sp>
      <p:sp>
        <p:nvSpPr>
          <p:cNvPr id="15" name="Shape 13"/>
          <p:cNvSpPr/>
          <p:nvPr/>
        </p:nvSpPr>
        <p:spPr>
          <a:xfrm>
            <a:off x="6912864" y="5047488"/>
            <a:ext cx="82296" cy="1042416"/>
          </a:xfrm>
          <a:prstGeom prst="roundRect">
            <a:avLst>
              <a:gd name="adj" fmla="val 44444"/>
            </a:avLst>
          </a:prstGeom>
          <a:solidFill>
            <a:srgbClr val="0F766E"/>
          </a:solidFill>
          <a:ln/>
        </p:spPr>
      </p:sp>
      <p:sp>
        <p:nvSpPr>
          <p:cNvPr id="16" name="Text 14"/>
          <p:cNvSpPr/>
          <p:nvPr/>
        </p:nvSpPr>
        <p:spPr>
          <a:xfrm>
            <a:off x="7114032" y="5029200"/>
            <a:ext cx="4343400" cy="1097280"/>
          </a:xfrm>
          <a:prstGeom prst="rect">
            <a:avLst/>
          </a:prstGeom>
          <a:noFill/>
          <a:ln/>
        </p:spPr>
        <p:txBody>
          <a:bodyPr wrap="square" rtlCol="0" anchor="t"/>
          <a:lstStyle/>
          <a:p>
            <a:pPr indent="0" marL="0">
              <a:lnSpc>
                <a:spcPct val="108000"/>
              </a:lnSpc>
              <a:spcAft>
                <a:spcPts val="400"/>
              </a:spcAft>
              <a:buNone/>
            </a:pPr>
            <a:r>
              <a:rPr lang="en-US" sz="1600" b="1" dirty="0">
                <a:solidFill>
                  <a:srgbClr val="4C1D95"/>
                </a:solidFill>
                <a:latin typeface="Segoe UI" pitchFamily="34" charset="0"/>
                <a:ea typeface="Segoe UI" pitchFamily="34" charset="-122"/>
                <a:cs typeface="Segoe UI" pitchFamily="34" charset="-120"/>
              </a:rPr>
              <a:t>Ask Helper to Edit</a:t>
            </a:r>
            <a:endParaRPr lang="en-US" sz="1600" dirty="0"/>
          </a:p>
          <a:p>
            <a:pPr indent="0" marL="0">
              <a:lnSpc>
                <a:spcPct val="108000"/>
              </a:lnSpc>
              <a:buNone/>
            </a:pPr>
            <a:r>
              <a:rPr lang="en-US" sz="1350" dirty="0">
                <a:solidFill>
                  <a:srgbClr val="1F2430"/>
                </a:solidFill>
                <a:latin typeface="Segoe UI" pitchFamily="34" charset="0"/>
                <a:ea typeface="Segoe UI" pitchFamily="34" charset="-122"/>
                <a:cs typeface="Segoe UI" pitchFamily="34" charset="-120"/>
              </a:rPr>
              <a:t>Send a task to the sighted helper's device; its status is spoken back when they respond.</a:t>
            </a:r>
            <a:endParaRPr lang="en-US" sz="160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SYSTEM ARCHITECTURE</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Three parts, one realtime backbone</a:t>
            </a:r>
            <a:endParaRPr lang="en-US" sz="3000" dirty="0"/>
          </a:p>
        </p:txBody>
      </p:sp>
      <p:sp>
        <p:nvSpPr>
          <p:cNvPr id="4" name="Shape 2"/>
          <p:cNvSpPr/>
          <p:nvPr/>
        </p:nvSpPr>
        <p:spPr>
          <a:xfrm>
            <a:off x="640080" y="1691640"/>
            <a:ext cx="3063240" cy="2011680"/>
          </a:xfrm>
          <a:prstGeom prst="roundRect">
            <a:avLst>
              <a:gd name="adj" fmla="val 4091"/>
            </a:avLst>
          </a:prstGeom>
          <a:solidFill>
            <a:srgbClr val="F4F1FA"/>
          </a:solidFill>
          <a:ln w="19050">
            <a:solidFill>
              <a:srgbClr val="4C1D95"/>
            </a:solidFill>
            <a:prstDash val="solid"/>
          </a:ln>
        </p:spPr>
      </p:sp>
      <p:sp>
        <p:nvSpPr>
          <p:cNvPr id="5" name="Text 3"/>
          <p:cNvSpPr/>
          <p:nvPr/>
        </p:nvSpPr>
        <p:spPr>
          <a:xfrm>
            <a:off x="822960" y="1828800"/>
            <a:ext cx="2697480" cy="1783080"/>
          </a:xfrm>
          <a:prstGeom prst="rect">
            <a:avLst/>
          </a:prstGeom>
          <a:noFill/>
          <a:ln/>
        </p:spPr>
        <p:txBody>
          <a:bodyPr wrap="square" rtlCol="0" anchor="t"/>
          <a:lstStyle/>
          <a:p>
            <a:pPr indent="0" marL="0">
              <a:lnSpc>
                <a:spcPct val="110000"/>
              </a:lnSpc>
              <a:spcAft>
                <a:spcPts val="600"/>
              </a:spcAft>
              <a:buNone/>
            </a:pPr>
            <a:r>
              <a:rPr lang="en-US" sz="1700" b="1" dirty="0">
                <a:solidFill>
                  <a:srgbClr val="4C1D95"/>
                </a:solidFill>
                <a:latin typeface="Segoe UI" pitchFamily="34" charset="0"/>
                <a:ea typeface="Segoe UI" pitchFamily="34" charset="-122"/>
                <a:cs typeface="Segoe UI" pitchFamily="34" charset="-120"/>
              </a:rPr>
              <a:t>Web app</a:t>
            </a:r>
            <a:endParaRPr lang="en-US" sz="1700" dirty="0"/>
          </a:p>
          <a:p>
            <a:pPr indent="0" marL="0">
              <a:lnSpc>
                <a:spcPct val="110000"/>
              </a:lnSpc>
              <a:buNone/>
            </a:pPr>
            <a:r>
              <a:rPr lang="en-US" sz="1300" dirty="0">
                <a:solidFill>
                  <a:srgbClr val="1F2430"/>
                </a:solidFill>
                <a:latin typeface="Segoe UI" pitchFamily="34" charset="0"/>
                <a:ea typeface="Segoe UI" pitchFamily="34" charset="-122"/>
                <a:cs typeface="Segoe UI" pitchFamily="34" charset="-120"/>
              </a:rPr>
              <a:t>React 19 + Vite SPA, mobile-first, Tailwind 4.</a:t>
            </a:r>
            <a:endParaRPr lang="en-US" sz="1700" dirty="0"/>
          </a:p>
          <a:p>
            <a:pPr indent="0" marL="0">
              <a:lnSpc>
                <a:spcPct val="110000"/>
              </a:lnSpc>
              <a:buNone/>
            </a:pPr>
            <a:r>
              <a:rPr lang="en-US" sz="1300" dirty="0">
                <a:solidFill>
                  <a:srgbClr val="1F2430"/>
                </a:solidFill>
                <a:latin typeface="Segoe UI" pitchFamily="34" charset="0"/>
                <a:ea typeface="Segoe UI" pitchFamily="34" charset="-122"/>
                <a:cs typeface="Segoe UI" pitchFamily="34" charset="-120"/>
              </a:rPr>
              <a:t>Deployed on Vercel; talks to Supabase directly with the anon key + RLS.</a:t>
            </a:r>
            <a:endParaRPr lang="en-US" sz="1700" dirty="0"/>
          </a:p>
        </p:txBody>
      </p:sp>
      <p:sp>
        <p:nvSpPr>
          <p:cNvPr id="6" name="Shape 4"/>
          <p:cNvSpPr/>
          <p:nvPr/>
        </p:nvSpPr>
        <p:spPr>
          <a:xfrm>
            <a:off x="4572000" y="1691640"/>
            <a:ext cx="3063240" cy="2011680"/>
          </a:xfrm>
          <a:prstGeom prst="roundRect">
            <a:avLst>
              <a:gd name="adj" fmla="val 4091"/>
            </a:avLst>
          </a:prstGeom>
          <a:solidFill>
            <a:srgbClr val="F4F1FA"/>
          </a:solidFill>
          <a:ln w="19050">
            <a:solidFill>
              <a:srgbClr val="4C1D95"/>
            </a:solidFill>
            <a:prstDash val="solid"/>
          </a:ln>
        </p:spPr>
      </p:sp>
      <p:sp>
        <p:nvSpPr>
          <p:cNvPr id="7" name="Text 5"/>
          <p:cNvSpPr/>
          <p:nvPr/>
        </p:nvSpPr>
        <p:spPr>
          <a:xfrm>
            <a:off x="4754880" y="1828800"/>
            <a:ext cx="2697480" cy="1783080"/>
          </a:xfrm>
          <a:prstGeom prst="rect">
            <a:avLst/>
          </a:prstGeom>
          <a:noFill/>
          <a:ln/>
        </p:spPr>
        <p:txBody>
          <a:bodyPr wrap="square" rtlCol="0" anchor="t"/>
          <a:lstStyle/>
          <a:p>
            <a:pPr indent="0" marL="0">
              <a:lnSpc>
                <a:spcPct val="110000"/>
              </a:lnSpc>
              <a:spcAft>
                <a:spcPts val="600"/>
              </a:spcAft>
              <a:buNone/>
            </a:pPr>
            <a:r>
              <a:rPr lang="en-US" sz="1700" b="1" dirty="0">
                <a:solidFill>
                  <a:srgbClr val="4C1D95"/>
                </a:solidFill>
                <a:latin typeface="Segoe UI" pitchFamily="34" charset="0"/>
                <a:ea typeface="Segoe UI" pitchFamily="34" charset="-122"/>
                <a:cs typeface="Segoe UI" pitchFamily="34" charset="-120"/>
              </a:rPr>
              <a:t>Supabase</a:t>
            </a:r>
            <a:endParaRPr lang="en-US" sz="1700" dirty="0"/>
          </a:p>
          <a:p>
            <a:pPr indent="0" marL="0">
              <a:lnSpc>
                <a:spcPct val="110000"/>
              </a:lnSpc>
              <a:buNone/>
            </a:pPr>
            <a:r>
              <a:rPr lang="en-US" sz="1300" dirty="0">
                <a:solidFill>
                  <a:srgbClr val="1F2430"/>
                </a:solidFill>
                <a:latin typeface="Segoe UI" pitchFamily="34" charset="0"/>
                <a:ea typeface="Segoe UI" pitchFamily="34" charset="-122"/>
                <a:cs typeface="Segoe UI" pitchFamily="34" charset="-120"/>
              </a:rPr>
              <a:t>Auth (allowlist + password) · Postgres with row-level security · private Storage bucket · Realtime: postgres_changes, presence, broadcast.</a:t>
            </a:r>
            <a:endParaRPr lang="en-US" sz="1700" dirty="0"/>
          </a:p>
        </p:txBody>
      </p:sp>
      <p:sp>
        <p:nvSpPr>
          <p:cNvPr id="8" name="Shape 6"/>
          <p:cNvSpPr/>
          <p:nvPr/>
        </p:nvSpPr>
        <p:spPr>
          <a:xfrm>
            <a:off x="8503920" y="1691640"/>
            <a:ext cx="3063240" cy="2011680"/>
          </a:xfrm>
          <a:prstGeom prst="roundRect">
            <a:avLst>
              <a:gd name="adj" fmla="val 4091"/>
            </a:avLst>
          </a:prstGeom>
          <a:solidFill>
            <a:srgbClr val="F4F1FA"/>
          </a:solidFill>
          <a:ln w="19050">
            <a:solidFill>
              <a:srgbClr val="4C1D95"/>
            </a:solidFill>
            <a:prstDash val="solid"/>
          </a:ln>
        </p:spPr>
      </p:sp>
      <p:sp>
        <p:nvSpPr>
          <p:cNvPr id="9" name="Text 7"/>
          <p:cNvSpPr/>
          <p:nvPr/>
        </p:nvSpPr>
        <p:spPr>
          <a:xfrm>
            <a:off x="8686800" y="1828800"/>
            <a:ext cx="2697480" cy="1783080"/>
          </a:xfrm>
          <a:prstGeom prst="rect">
            <a:avLst/>
          </a:prstGeom>
          <a:noFill/>
          <a:ln/>
        </p:spPr>
        <p:txBody>
          <a:bodyPr wrap="square" rtlCol="0" anchor="t"/>
          <a:lstStyle/>
          <a:p>
            <a:pPr indent="0" marL="0">
              <a:lnSpc>
                <a:spcPct val="110000"/>
              </a:lnSpc>
              <a:spcAft>
                <a:spcPts val="600"/>
              </a:spcAft>
              <a:buNone/>
            </a:pPr>
            <a:r>
              <a:rPr lang="en-US" sz="1700" b="1" dirty="0">
                <a:solidFill>
                  <a:srgbClr val="4C1D95"/>
                </a:solidFill>
                <a:latin typeface="Segoe UI" pitchFamily="34" charset="0"/>
                <a:ea typeface="Segoe UI" pitchFamily="34" charset="-122"/>
                <a:cs typeface="Segoe UI" pitchFamily="34" charset="-120"/>
              </a:rPr>
              <a:t>API server</a:t>
            </a:r>
            <a:endParaRPr lang="en-US" sz="1700" dirty="0"/>
          </a:p>
          <a:p>
            <a:pPr indent="0" marL="0">
              <a:lnSpc>
                <a:spcPct val="110000"/>
              </a:lnSpc>
              <a:buNone/>
            </a:pPr>
            <a:r>
              <a:rPr lang="en-US" sz="1300" dirty="0">
                <a:solidFill>
                  <a:srgbClr val="1F2430"/>
                </a:solidFill>
                <a:latin typeface="Segoe UI" pitchFamily="34" charset="0"/>
                <a:ea typeface="Segoe UI" pitchFamily="34" charset="-122"/>
                <a:cs typeface="Segoe UI" pitchFamily="34" charset="-120"/>
              </a:rPr>
              <a:t>Express 5 on Railway. Bundled FFmpeg + Gemini 2.5 Flash.</a:t>
            </a:r>
            <a:endParaRPr lang="en-US" sz="1700" dirty="0"/>
          </a:p>
          <a:p>
            <a:pPr indent="0" marL="0">
              <a:lnSpc>
                <a:spcPct val="110000"/>
              </a:lnSpc>
              <a:buNone/>
            </a:pPr>
            <a:r>
              <a:rPr lang="en-US" sz="1300" dirty="0">
                <a:solidFill>
                  <a:srgbClr val="1F2430"/>
                </a:solidFill>
                <a:latin typeface="Segoe UI" pitchFamily="34" charset="0"/>
                <a:ea typeface="Segoe UI" pitchFamily="34" charset="-122"/>
                <a:cs typeface="Segoe UI" pitchFamily="34" charset="-120"/>
              </a:rPr>
              <a:t>Holds the only copies of the service-role and Gemini keys.</a:t>
            </a:r>
            <a:endParaRPr lang="en-US" sz="1700" dirty="0"/>
          </a:p>
        </p:txBody>
      </p:sp>
      <p:sp>
        <p:nvSpPr>
          <p:cNvPr id="10" name="Shape 8"/>
          <p:cNvSpPr/>
          <p:nvPr/>
        </p:nvSpPr>
        <p:spPr>
          <a:xfrm>
            <a:off x="3703320" y="2697480"/>
            <a:ext cx="868680" cy="0"/>
          </a:xfrm>
          <a:prstGeom prst="line">
            <a:avLst/>
          </a:prstGeom>
          <a:noFill/>
          <a:ln w="31750">
            <a:solidFill>
              <a:srgbClr val="6D28D9"/>
            </a:solidFill>
            <a:prstDash val="solid"/>
            <a:headEnd type="arrow"/>
            <a:tailEnd type="arrow"/>
          </a:ln>
        </p:spPr>
      </p:sp>
      <p:sp>
        <p:nvSpPr>
          <p:cNvPr id="11" name="Shape 9"/>
          <p:cNvSpPr/>
          <p:nvPr/>
        </p:nvSpPr>
        <p:spPr>
          <a:xfrm>
            <a:off x="7635240" y="2697480"/>
            <a:ext cx="868680" cy="0"/>
          </a:xfrm>
          <a:prstGeom prst="line">
            <a:avLst/>
          </a:prstGeom>
          <a:noFill/>
          <a:ln w="31750">
            <a:solidFill>
              <a:srgbClr val="6D28D9"/>
            </a:solidFill>
            <a:prstDash val="solid"/>
            <a:headEnd type="arrow"/>
            <a:tailEnd type="arrow"/>
          </a:ln>
        </p:spPr>
      </p:sp>
      <p:sp>
        <p:nvSpPr>
          <p:cNvPr id="12" name="Text 10"/>
          <p:cNvSpPr/>
          <p:nvPr/>
        </p:nvSpPr>
        <p:spPr>
          <a:xfrm>
            <a:off x="640080" y="4434840"/>
            <a:ext cx="10972800" cy="1920240"/>
          </a:xfrm>
          <a:prstGeom prst="rect">
            <a:avLst/>
          </a:prstGeom>
          <a:noFill/>
          <a:ln/>
        </p:spPr>
        <p:txBody>
          <a:bodyPr wrap="square" rtlCol="0" anchor="t"/>
          <a:lstStyle/>
          <a:p>
            <a:pPr algn="l" marL="177800" indent="-177800">
              <a:lnSpc>
                <a:spcPct val="112000"/>
              </a:lnSpc>
              <a:spcAft>
                <a:spcPts val="1000"/>
              </a:spcAft>
              <a:buSzPct val="100000"/>
              <a:buChar char="•"/>
            </a:pPr>
            <a:r>
              <a:rPr lang="en-US" sz="1500" dirty="0">
                <a:solidFill>
                  <a:srgbClr val="1F2430"/>
                </a:solidFill>
                <a:latin typeface="Segoe UI" pitchFamily="34" charset="0"/>
                <a:ea typeface="Segoe UI" pitchFamily="34" charset="-122"/>
                <a:cs typeface="Segoe UI" pitchFamily="34" charset="-120"/>
              </a:rPr>
              <a:t>The browser never holds a secret: Gemini and service-role keys exist only in server env vars; every server route re-verifies the caller's JWT and project membership because service-role bypasses RLS.</a:t>
            </a:r>
            <a:endParaRPr lang="en-US" sz="1500" dirty="0"/>
          </a:p>
          <a:p>
            <a:pPr algn="l" marL="177800" indent="-177800">
              <a:lnSpc>
                <a:spcPct val="112000"/>
              </a:lnSpc>
              <a:spcAft>
                <a:spcPts val="1000"/>
              </a:spcAft>
              <a:buSzPct val="100000"/>
              <a:buChar char="•"/>
            </a:pPr>
            <a:r>
              <a:rPr lang="en-US" sz="1500" dirty="0">
                <a:solidFill>
                  <a:srgbClr val="1F2430"/>
                </a:solidFill>
                <a:latin typeface="Segoe UI" pitchFamily="34" charset="0"/>
                <a:ea typeface="Segoe UI" pitchFamily="34" charset="-122"/>
                <a:cs typeface="Segoe UI" pitchFamily="34" charset="-120"/>
              </a:rPr>
              <a:t>Phone videos upload straight to Supabase Storage over the TUS resumable protocol (6 MiB chunks) — interrupted mobile uploads resume instead of restarting.</a:t>
            </a:r>
            <a:endParaRPr lang="en-US" sz="1500" dirty="0"/>
          </a:p>
          <a:p>
            <a:pPr algn="l" marL="177800" indent="-177800">
              <a:lnSpc>
                <a:spcPct val="112000"/>
              </a:lnSpc>
              <a:spcAft>
                <a:spcPts val="1000"/>
              </a:spcAft>
              <a:buSzPct val="100000"/>
              <a:buChar char="•"/>
            </a:pPr>
            <a:r>
              <a:rPr lang="en-US" sz="1500" dirty="0">
                <a:solidFill>
                  <a:srgbClr val="1F2430"/>
                </a:solidFill>
                <a:latin typeface="Segoe UI" pitchFamily="34" charset="0"/>
                <a:ea typeface="Segoe UI" pitchFamily="34" charset="-122"/>
                <a:cs typeface="Segoe UI" pitchFamily="34" charset="-120"/>
              </a:rPr>
              <a:t>Heavy work (FFmpeg segmentation, AI description, MP4 render) runs as fire-and-forget jobs on the server with atomic claims, single-flight guards, and a boot-time crash-recovery sweep.</a:t>
            </a:r>
            <a:endParaRPr lang="en-US" sz="150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KNOW YOUR OWN FOOTAGE</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Every scene described — at the depth you choose</a:t>
            </a:r>
            <a:endParaRPr lang="en-US" sz="3000" dirty="0"/>
          </a:p>
        </p:txBody>
      </p:sp>
      <p:sp>
        <p:nvSpPr>
          <p:cNvPr id="4" name="Text 2"/>
          <p:cNvSpPr/>
          <p:nvPr/>
        </p:nvSpPr>
        <p:spPr>
          <a:xfrm>
            <a:off x="640080" y="1417320"/>
            <a:ext cx="10972800" cy="594360"/>
          </a:xfrm>
          <a:prstGeom prst="rect">
            <a:avLst/>
          </a:prstGeom>
          <a:noFill/>
          <a:ln/>
        </p:spPr>
        <p:txBody>
          <a:bodyPr wrap="square" rtlCol="0" anchor="ctr"/>
          <a:lstStyle/>
          <a:p>
            <a:pPr indent="0" marL="0">
              <a:lnSpc>
                <a:spcPct val="110000"/>
              </a:lnSpc>
              <a:buNone/>
            </a:pPr>
            <a:r>
              <a:rPr lang="en-US" sz="1550" dirty="0">
                <a:solidFill>
                  <a:srgbClr val="1F2430"/>
                </a:solidFill>
                <a:latin typeface="Segoe UI" pitchFamily="34" charset="0"/>
                <a:ea typeface="Segoe UI" pitchFamily="34" charset="-122"/>
                <a:cs typeface="Segoe UI" pitchFamily="34" charset="-120"/>
              </a:rPr>
              <a:t>Gemini 2.5 Flash describes the actual 480p scene clip with audio — motion and speech, not a frozen frame — and the app reads it aloud at the user's chosen speech rate.</a:t>
            </a:r>
            <a:endParaRPr lang="en-US" sz="1550" dirty="0"/>
          </a:p>
        </p:txBody>
      </p:sp>
      <p:pic>
        <p:nvPicPr>
          <p:cNvPr id="5" name="Image 0" descr="Editor screenshot with the Overview tab selected. Scene 1's description is one sentence: A person's hand touches walls and doorframes as the camera moves through a living room into a kitchen, accompanied by distinct tapping sounds.">    </p:cNvPr>
          <p:cNvPicPr>
            <a:picLocks noChangeAspect="1"/>
          </p:cNvPicPr>
          <p:nvPr/>
        </p:nvPicPr>
        <p:blipFill>
          <a:blip r:embed="rId1"/>
          <a:stretch>
            <a:fillRect/>
          </a:stretch>
        </p:blipFill>
        <p:spPr>
          <a:xfrm>
            <a:off x="1189108" y="2212848"/>
            <a:ext cx="3012650" cy="3977640"/>
          </a:xfrm>
          <a:prstGeom prst="rect">
            <a:avLst/>
          </a:prstGeom>
        </p:spPr>
      </p:pic>
      <p:sp>
        <p:nvSpPr>
          <p:cNvPr id="6" name="Shape 3"/>
          <p:cNvSpPr/>
          <p:nvPr/>
        </p:nvSpPr>
        <p:spPr>
          <a:xfrm>
            <a:off x="1161676" y="2185416"/>
            <a:ext cx="3067514" cy="4032504"/>
          </a:xfrm>
          <a:prstGeom prst="roundRect">
            <a:avLst>
              <a:gd name="adj" fmla="val 1789"/>
            </a:avLst>
          </a:prstGeom>
          <a:ln w="22225">
            <a:solidFill>
              <a:srgbClr val="D8CFEC"/>
            </a:solidFill>
            <a:prstDash val="solid"/>
          </a:ln>
        </p:spPr>
      </p:sp>
      <p:sp>
        <p:nvSpPr>
          <p:cNvPr id="7" name="Text 4"/>
          <p:cNvSpPr/>
          <p:nvPr/>
        </p:nvSpPr>
        <p:spPr>
          <a:xfrm>
            <a:off x="960508" y="6263640"/>
            <a:ext cx="3469850" cy="502920"/>
          </a:xfrm>
          <a:prstGeom prst="rect">
            <a:avLst/>
          </a:prstGeom>
          <a:noFill/>
          <a:ln/>
        </p:spPr>
        <p:txBody>
          <a:bodyPr wrap="square" rtlCol="0" anchor="t"/>
          <a:lstStyle/>
          <a:p>
            <a:pPr algn="ctr" indent="0" marL="0">
              <a:buNone/>
            </a:pPr>
            <a:r>
              <a:rPr lang="en-US" sz="1250" dirty="0">
                <a:solidFill>
                  <a:srgbClr val="444B5A"/>
                </a:solidFill>
                <a:latin typeface="Segoe UI" pitchFamily="34" charset="0"/>
                <a:ea typeface="Segoe UI" pitchFamily="34" charset="-122"/>
                <a:cs typeface="Segoe UI" pitchFamily="34" charset="-120"/>
              </a:rPr>
              <a:t>Overview — what's happening (15–30 words)</a:t>
            </a:r>
            <a:endParaRPr lang="en-US" sz="1250" dirty="0"/>
          </a:p>
        </p:txBody>
      </p:sp>
      <p:pic>
        <p:nvPicPr>
          <p:cNvPr id="8" name="Image 1" descr="Editor screenshot with the Detailed tab selected. The description is a fuller paragraph covering the light-skinned hand on the right, the doorway into the kitchen, light brown wooden cabinets, a white refrigerator, white countertops and hardwood floors.">    </p:cNvPr>
          <p:cNvPicPr>
            <a:picLocks noChangeAspect="1"/>
          </p:cNvPicPr>
          <p:nvPr/>
        </p:nvPicPr>
        <p:blipFill>
          <a:blip r:embed="rId2"/>
          <a:stretch>
            <a:fillRect/>
          </a:stretch>
        </p:blipFill>
        <p:spPr>
          <a:xfrm>
            <a:off x="4658958" y="2212848"/>
            <a:ext cx="2828544" cy="3977640"/>
          </a:xfrm>
          <a:prstGeom prst="rect">
            <a:avLst/>
          </a:prstGeom>
        </p:spPr>
      </p:pic>
      <p:sp>
        <p:nvSpPr>
          <p:cNvPr id="9" name="Shape 5"/>
          <p:cNvSpPr/>
          <p:nvPr/>
        </p:nvSpPr>
        <p:spPr>
          <a:xfrm>
            <a:off x="4631526" y="2185416"/>
            <a:ext cx="2883408" cy="4032504"/>
          </a:xfrm>
          <a:prstGeom prst="roundRect">
            <a:avLst>
              <a:gd name="adj" fmla="val 1903"/>
            </a:avLst>
          </a:prstGeom>
          <a:ln w="22225">
            <a:solidFill>
              <a:srgbClr val="D8CFEC"/>
            </a:solidFill>
            <a:prstDash val="solid"/>
          </a:ln>
        </p:spPr>
      </p:sp>
      <p:sp>
        <p:nvSpPr>
          <p:cNvPr id="10" name="Text 6"/>
          <p:cNvSpPr/>
          <p:nvPr/>
        </p:nvSpPr>
        <p:spPr>
          <a:xfrm>
            <a:off x="4430358" y="6263640"/>
            <a:ext cx="3285744" cy="502920"/>
          </a:xfrm>
          <a:prstGeom prst="rect">
            <a:avLst/>
          </a:prstGeom>
          <a:noFill/>
          <a:ln/>
        </p:spPr>
        <p:txBody>
          <a:bodyPr wrap="square" rtlCol="0" anchor="t"/>
          <a:lstStyle/>
          <a:p>
            <a:pPr algn="ctr" indent="0" marL="0">
              <a:buNone/>
            </a:pPr>
            <a:r>
              <a:rPr lang="en-US" sz="1250" dirty="0">
                <a:solidFill>
                  <a:srgbClr val="444B5A"/>
                </a:solidFill>
                <a:latin typeface="Segoe UI" pitchFamily="34" charset="0"/>
                <a:ea typeface="Segoe UI" pitchFamily="34" charset="-122"/>
                <a:cs typeface="Segoe UI" pitchFamily="34" charset="-120"/>
              </a:rPr>
              <a:t>Detailed — what's visible (40–70 words)</a:t>
            </a:r>
            <a:endParaRPr lang="en-US" sz="1250" dirty="0"/>
          </a:p>
        </p:txBody>
      </p:sp>
      <p:pic>
        <p:nvPicPr>
          <p:cNvPr id="11" name="Image 2" descr="Editor screenshot showing Scene 1's technical-level description, covering craft qualities: fisheye lens, wide distorted view, handheld camera movement, bright even lighting, natural colour balance, sharp focus, and thud sounds matching hand contact.">    </p:cNvPr>
          <p:cNvPicPr>
            <a:picLocks noChangeAspect="1"/>
          </p:cNvPicPr>
          <p:nvPr/>
        </p:nvPicPr>
        <p:blipFill>
          <a:blip r:embed="rId3"/>
          <a:stretch>
            <a:fillRect/>
          </a:stretch>
        </p:blipFill>
        <p:spPr>
          <a:xfrm>
            <a:off x="7944702" y="2212848"/>
            <a:ext cx="3057885" cy="3977640"/>
          </a:xfrm>
          <a:prstGeom prst="rect">
            <a:avLst/>
          </a:prstGeom>
        </p:spPr>
      </p:pic>
      <p:sp>
        <p:nvSpPr>
          <p:cNvPr id="12" name="Shape 7"/>
          <p:cNvSpPr/>
          <p:nvPr/>
        </p:nvSpPr>
        <p:spPr>
          <a:xfrm>
            <a:off x="7917270" y="2185416"/>
            <a:ext cx="3112749" cy="4032504"/>
          </a:xfrm>
          <a:prstGeom prst="roundRect">
            <a:avLst>
              <a:gd name="adj" fmla="val 1763"/>
            </a:avLst>
          </a:prstGeom>
          <a:ln w="22225">
            <a:solidFill>
              <a:srgbClr val="D8CFEC"/>
            </a:solidFill>
            <a:prstDash val="solid"/>
          </a:ln>
        </p:spPr>
      </p:sp>
      <p:sp>
        <p:nvSpPr>
          <p:cNvPr id="13" name="Text 8"/>
          <p:cNvSpPr/>
          <p:nvPr/>
        </p:nvSpPr>
        <p:spPr>
          <a:xfrm>
            <a:off x="7716102" y="6263640"/>
            <a:ext cx="3515085" cy="502920"/>
          </a:xfrm>
          <a:prstGeom prst="rect">
            <a:avLst/>
          </a:prstGeom>
          <a:noFill/>
          <a:ln/>
        </p:spPr>
        <p:txBody>
          <a:bodyPr wrap="square" rtlCol="0" anchor="t"/>
          <a:lstStyle/>
          <a:p>
            <a:pPr algn="ctr" indent="0" marL="0">
              <a:buNone/>
            </a:pPr>
            <a:r>
              <a:rPr lang="en-US" sz="1250" dirty="0">
                <a:solidFill>
                  <a:srgbClr val="444B5A"/>
                </a:solidFill>
                <a:latin typeface="Segoe UI" pitchFamily="34" charset="0"/>
                <a:ea typeface="Segoe UI" pitchFamily="34" charset="-122"/>
                <a:cs typeface="Segoe UI" pitchFamily="34" charset="-120"/>
              </a:rPr>
              <a:t>Technical — how it looks (60–100 words)</a:t>
            </a:r>
            <a:endParaRPr lang="en-US" sz="125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AGENCY BY DESIGN</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Any edit, three ways: yourself, AI, or your helper</a:t>
            </a:r>
            <a:endParaRPr lang="en-US" sz="3000" dirty="0"/>
          </a:p>
        </p:txBody>
      </p:sp>
      <p:pic>
        <p:nvPicPr>
          <p:cNvPr id="4" name="Image 0" descr="Editor screenshot of the self-edit tool panel on a scene. A dark blue Trim here button is highlighted, with helper text: Trims this scene at the current playback time — it splits into two clips. Pair with Delete to drop the part you don't want. Below are Move Earlier and Move Later buttons, a red Delete button, and a purple Export video button.">    </p:cNvPr>
          <p:cNvPicPr>
            <a:picLocks noChangeAspect="1"/>
          </p:cNvPicPr>
          <p:nvPr/>
        </p:nvPicPr>
        <p:blipFill>
          <a:blip r:embed="rId1"/>
          <a:stretch>
            <a:fillRect/>
          </a:stretch>
        </p:blipFill>
        <p:spPr>
          <a:xfrm>
            <a:off x="731520" y="1600200"/>
            <a:ext cx="3334370" cy="4480560"/>
          </a:xfrm>
          <a:prstGeom prst="rect">
            <a:avLst/>
          </a:prstGeom>
        </p:spPr>
      </p:pic>
      <p:sp>
        <p:nvSpPr>
          <p:cNvPr id="5" name="Shape 2"/>
          <p:cNvSpPr/>
          <p:nvPr/>
        </p:nvSpPr>
        <p:spPr>
          <a:xfrm>
            <a:off x="704088" y="1572768"/>
            <a:ext cx="3389234" cy="4535424"/>
          </a:xfrm>
          <a:prstGeom prst="roundRect">
            <a:avLst>
              <a:gd name="adj" fmla="val 1619"/>
            </a:avLst>
          </a:prstGeom>
          <a:ln w="22225">
            <a:solidFill>
              <a:srgbClr val="D8CFEC"/>
            </a:solidFill>
            <a:prstDash val="solid"/>
          </a:ln>
        </p:spPr>
      </p:sp>
      <p:sp>
        <p:nvSpPr>
          <p:cNvPr id="6" name="Text 3"/>
          <p:cNvSpPr/>
          <p:nvPr/>
        </p:nvSpPr>
        <p:spPr>
          <a:xfrm>
            <a:off x="502920" y="6153912"/>
            <a:ext cx="3791570" cy="502920"/>
          </a:xfrm>
          <a:prstGeom prst="rect">
            <a:avLst/>
          </a:prstGeom>
          <a:noFill/>
          <a:ln/>
        </p:spPr>
        <p:txBody>
          <a:bodyPr wrap="square" rtlCol="0" anchor="t"/>
          <a:lstStyle/>
          <a:p>
            <a:pPr algn="ctr" indent="0" marL="0">
              <a:buNone/>
            </a:pPr>
            <a:r>
              <a:rPr lang="en-US" sz="1250" dirty="0">
                <a:solidFill>
                  <a:srgbClr val="444B5A"/>
                </a:solidFill>
                <a:latin typeface="Segoe UI" pitchFamily="34" charset="0"/>
                <a:ea typeface="Segoe UI" pitchFamily="34" charset="-122"/>
                <a:cs typeface="Segoe UI" pitchFamily="34" charset="-120"/>
              </a:rPr>
              <a:t>Self-edit tools on a scene</a:t>
            </a:r>
            <a:endParaRPr lang="en-US" sz="1250" dirty="0"/>
          </a:p>
        </p:txBody>
      </p:sp>
      <p:sp>
        <p:nvSpPr>
          <p:cNvPr id="7" name="Text 4"/>
          <p:cNvSpPr/>
          <p:nvPr/>
        </p:nvSpPr>
        <p:spPr>
          <a:xfrm>
            <a:off x="4617720" y="1645920"/>
            <a:ext cx="6949440" cy="4754880"/>
          </a:xfrm>
          <a:prstGeom prst="rect">
            <a:avLst/>
          </a:prstGeom>
          <a:noFill/>
          <a:ln/>
        </p:spPr>
        <p:txBody>
          <a:bodyPr wrap="square" rtlCol="0" anchor="t"/>
          <a:lstStyle/>
          <a:p>
            <a:pPr marL="177800" indent="-177800">
              <a:lnSpc>
                <a:spcPct val="112000"/>
              </a:lnSpc>
              <a:spcAft>
                <a:spcPts val="1000"/>
              </a:spcAft>
              <a:buSzPct val="100000"/>
              <a:buChar char="•"/>
            </a:pPr>
            <a:r>
              <a:rPr lang="en-US" sz="1500" b="1" dirty="0">
                <a:solidFill>
                  <a:srgbClr val="4C1D95"/>
                </a:solidFill>
                <a:latin typeface="Segoe UI" pitchFamily="34" charset="0"/>
                <a:ea typeface="Segoe UI" pitchFamily="34" charset="-122"/>
                <a:cs typeface="Segoe UI" pitchFamily="34" charset="-120"/>
              </a:rPr>
              <a:t>Edit by Myself — </a:t>
            </a:r>
            <a:pPr indent="0" marL="0">
              <a:lnSpc>
                <a:spcPct val="112000"/>
              </a:lnSpc>
              <a:spcAft>
                <a:spcPts val="1000"/>
              </a:spcAft>
              <a:buNone/>
            </a:pPr>
            <a:r>
              <a:rPr lang="en-US" sz="1500" dirty="0">
                <a:solidFill>
                  <a:srgbClr val="1F2430"/>
                </a:solidFill>
                <a:latin typeface="Segoe UI" pitchFamily="34" charset="0"/>
                <a:ea typeface="Segoe UI" pitchFamily="34" charset="-122"/>
                <a:cs typeface="Segoe UI" pitchFamily="34" charset="-120"/>
              </a:rPr>
              <a:t>trim, split, move, delete, caption, mute — with undo/redo. Large labelled controls (44–48 px targets), each action announced as it lands in the shared timeline.</a:t>
            </a:r>
            <a:endParaRPr lang="en-US" sz="1500" dirty="0"/>
          </a:p>
          <a:p>
            <a:pPr marL="177800" indent="-177800">
              <a:lnSpc>
                <a:spcPct val="112000"/>
              </a:lnSpc>
              <a:spcAft>
                <a:spcPts val="1000"/>
              </a:spcAft>
              <a:buSzPct val="100000"/>
              <a:buChar char="•"/>
            </a:pPr>
            <a:r>
              <a:rPr lang="en-US" sz="1500" b="1" dirty="0">
                <a:solidFill>
                  <a:srgbClr val="4C1D95"/>
                </a:solidFill>
                <a:latin typeface="Segoe UI" pitchFamily="34" charset="0"/>
                <a:ea typeface="Segoe UI" pitchFamily="34" charset="-122"/>
                <a:cs typeface="Segoe UI" pitchFamily="34" charset="-120"/>
              </a:rPr>
              <a:t>Ask Helper to Edit — </a:t>
            </a:r>
            <a:pPr indent="0" marL="0">
              <a:lnSpc>
                <a:spcPct val="112000"/>
              </a:lnSpc>
              <a:spcAft>
                <a:spcPts val="1000"/>
              </a:spcAft>
              <a:buNone/>
            </a:pPr>
            <a:r>
              <a:rPr lang="en-US" sz="1500" dirty="0">
                <a:solidFill>
                  <a:srgbClr val="1F2430"/>
                </a:solidFill>
                <a:latin typeface="Segoe UI" pitchFamily="34" charset="0"/>
                <a:ea typeface="Segoe UI" pitchFamily="34" charset="-122"/>
                <a:cs typeface="Segoe UI" pitchFamily="34" charset="-120"/>
              </a:rPr>
              <a:t>a spoken or typed request becomes a durable task on the helper's device: Done / Needs discussion / Can't do, with the outcome spoken back to the creator.</a:t>
            </a:r>
            <a:endParaRPr lang="en-US" sz="1500" dirty="0"/>
          </a:p>
          <a:p>
            <a:pPr marL="177800" indent="-177800">
              <a:lnSpc>
                <a:spcPct val="112000"/>
              </a:lnSpc>
              <a:spcAft>
                <a:spcPts val="1000"/>
              </a:spcAft>
              <a:buSzPct val="100000"/>
              <a:buChar char="•"/>
            </a:pPr>
            <a:r>
              <a:rPr lang="en-US" sz="1500" b="1" dirty="0">
                <a:solidFill>
                  <a:srgbClr val="4C1D95"/>
                </a:solidFill>
                <a:latin typeface="Segoe UI" pitchFamily="34" charset="0"/>
                <a:ea typeface="Segoe UI" pitchFamily="34" charset="-122"/>
                <a:cs typeface="Segoe UI" pitchFamily="34" charset="-120"/>
              </a:rPr>
              <a:t>Ask AI to Edit — </a:t>
            </a:r>
            <a:pPr indent="0" marL="0">
              <a:lnSpc>
                <a:spcPct val="112000"/>
              </a:lnSpc>
              <a:spcAft>
                <a:spcPts val="1000"/>
              </a:spcAft>
              <a:buNone/>
            </a:pPr>
            <a:r>
              <a:rPr lang="en-US" sz="1500" dirty="0">
                <a:solidFill>
                  <a:srgbClr val="1F2430"/>
                </a:solidFill>
                <a:latin typeface="Segoe UI" pitchFamily="34" charset="0"/>
                <a:ea typeface="Segoe UI" pitchFamily="34" charset="-122"/>
                <a:cs typeface="Segoe UI" pitchFamily="34" charset="-120"/>
              </a:rPr>
              <a:t>natural language in, one confirmed operation out (next slide).</a:t>
            </a:r>
            <a:endParaRPr lang="en-US" sz="1500" dirty="0"/>
          </a:p>
          <a:p>
            <a:pPr marL="177800" indent="-177800">
              <a:lnSpc>
                <a:spcPct val="112000"/>
              </a:lnSpc>
              <a:spcAft>
                <a:spcPts val="1000"/>
              </a:spcAft>
              <a:buSzPct val="100000"/>
              <a:buChar char="•"/>
            </a:pPr>
            <a:r>
              <a:rPr lang="en-US" sz="1500" b="1" dirty="0">
                <a:solidFill>
                  <a:srgbClr val="4C1D95"/>
                </a:solidFill>
                <a:latin typeface="Segoe UI" pitchFamily="34" charset="0"/>
                <a:ea typeface="Segoe UI" pitchFamily="34" charset="-122"/>
                <a:cs typeface="Segoe UI" pitchFamily="34" charset="-120"/>
              </a:rPr>
              <a:t>Ask about this scene — </a:t>
            </a:r>
            <a:pPr indent="0" marL="0">
              <a:lnSpc>
                <a:spcPct val="112000"/>
              </a:lnSpc>
              <a:spcAft>
                <a:spcPts val="1000"/>
              </a:spcAft>
              <a:buNone/>
            </a:pPr>
            <a:r>
              <a:rPr lang="en-US" sz="1500" dirty="0">
                <a:solidFill>
                  <a:srgbClr val="1F2430"/>
                </a:solidFill>
                <a:latin typeface="Segoe UI" pitchFamily="34" charset="0"/>
                <a:ea typeface="Segoe UI" pitchFamily="34" charset="-122"/>
                <a:cs typeface="Segoe UI" pitchFamily="34" charset="-120"/>
              </a:rPr>
              <a:t>free-text visual Q&amp;A answered by Gemini from the scene's keyframe, in concrete spatial language (left/right, foreground/background).</a:t>
            </a:r>
            <a:endParaRPr lang="en-US" sz="1500" dirty="0"/>
          </a:p>
          <a:p>
            <a:pPr marL="177800" indent="-177800">
              <a:lnSpc>
                <a:spcPct val="112000"/>
              </a:lnSpc>
              <a:spcAft>
                <a:spcPts val="1000"/>
              </a:spcAft>
              <a:buSzPct val="100000"/>
              <a:buChar char="•"/>
            </a:pPr>
            <a:r>
              <a:rPr lang="en-US" sz="1500" b="1" dirty="0">
                <a:solidFill>
                  <a:srgbClr val="4C1D95"/>
                </a:solidFill>
                <a:latin typeface="Segoe UI" pitchFamily="34" charset="0"/>
                <a:ea typeface="Segoe UI" pitchFamily="34" charset="-122"/>
                <a:cs typeface="Segoe UI" pitchFamily="34" charset="-120"/>
              </a:rPr>
              <a:t>Analyse with AI — </a:t>
            </a:r>
            <a:pPr indent="0" marL="0">
              <a:lnSpc>
                <a:spcPct val="112000"/>
              </a:lnSpc>
              <a:spcAft>
                <a:spcPts val="1000"/>
              </a:spcAft>
              <a:buNone/>
            </a:pPr>
            <a:r>
              <a:rPr lang="en-US" sz="1500" dirty="0">
                <a:solidFill>
                  <a:srgbClr val="1F2430"/>
                </a:solidFill>
                <a:latin typeface="Segoe UI" pitchFamily="34" charset="0"/>
                <a:ea typeface="Segoe UI" pitchFamily="34" charset="-122"/>
                <a:cs typeface="Segoe UI" pitchFamily="34" charset="-120"/>
              </a:rPr>
              <a:t>one tap requests up to three curated suggestions (issue → structural → creative, max one per scene); each suggestion must itself be routed through the same three channels, and its resolution syncs to both devices.</a:t>
            </a:r>
            <a:endParaRPr lang="en-US" sz="150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AI THAT ASKS FIRST</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Natural-language edits, confirmed before they apply</a:t>
            </a:r>
            <a:endParaRPr lang="en-US" sz="3000" dirty="0"/>
          </a:p>
        </p:txBody>
      </p:sp>
      <p:sp>
        <p:nvSpPr>
          <p:cNvPr id="4" name="Shape 2"/>
          <p:cNvSpPr/>
          <p:nvPr/>
        </p:nvSpPr>
        <p:spPr>
          <a:xfrm>
            <a:off x="731520" y="1819656"/>
            <a:ext cx="475488" cy="475488"/>
          </a:xfrm>
          <a:prstGeom prst="ellipse">
            <a:avLst/>
          </a:prstGeom>
          <a:solidFill>
            <a:srgbClr val="4C1D95"/>
          </a:solidFill>
          <a:ln/>
        </p:spPr>
      </p:sp>
      <p:sp>
        <p:nvSpPr>
          <p:cNvPr id="5" name="Text 3"/>
          <p:cNvSpPr/>
          <p:nvPr/>
        </p:nvSpPr>
        <p:spPr>
          <a:xfrm>
            <a:off x="731520" y="1819656"/>
            <a:ext cx="475488" cy="475488"/>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6" name="Text 4"/>
          <p:cNvSpPr/>
          <p:nvPr/>
        </p:nvSpPr>
        <p:spPr>
          <a:xfrm>
            <a:off x="1417320" y="1783080"/>
            <a:ext cx="6217920" cy="1115568"/>
          </a:xfrm>
          <a:prstGeom prst="rect">
            <a:avLst/>
          </a:prstGeom>
          <a:noFill/>
          <a:ln/>
        </p:spPr>
        <p:txBody>
          <a:bodyPr wrap="square" rtlCol="0" anchor="t"/>
          <a:lstStyle/>
          <a:p>
            <a:pPr indent="0" marL="0">
              <a:lnSpc>
                <a:spcPct val="108000"/>
              </a:lnSpc>
              <a:spcAft>
                <a:spcPts val="300"/>
              </a:spcAft>
              <a:buNone/>
            </a:pPr>
            <a:r>
              <a:rPr lang="en-US" sz="1550" b="1" dirty="0">
                <a:solidFill>
                  <a:srgbClr val="4C1D95"/>
                </a:solidFill>
                <a:latin typeface="Segoe UI" pitchFamily="34" charset="0"/>
                <a:ea typeface="Segoe UI" pitchFamily="34" charset="-122"/>
                <a:cs typeface="Segoe UI" pitchFamily="34" charset="-120"/>
              </a:rPr>
              <a:t>Speak or type</a:t>
            </a:r>
            <a:endParaRPr lang="en-US" sz="1550" dirty="0"/>
          </a:p>
          <a:p>
            <a:pPr indent="0" marL="0">
              <a:lnSpc>
                <a:spcPct val="108000"/>
              </a:lnSpc>
              <a:buNone/>
            </a:pPr>
            <a:r>
              <a:rPr lang="en-US" sz="1400" dirty="0">
                <a:solidFill>
                  <a:srgbClr val="1F2430"/>
                </a:solidFill>
                <a:latin typeface="Segoe UI" pitchFamily="34" charset="0"/>
                <a:ea typeface="Segoe UI" pitchFamily="34" charset="-122"/>
                <a:cs typeface="Segoe UI" pitchFamily="34" charset="-120"/>
              </a:rPr>
              <a:t>“Delete scene 2 from the timeline.”</a:t>
            </a:r>
            <a:endParaRPr lang="en-US" sz="1550" dirty="0"/>
          </a:p>
        </p:txBody>
      </p:sp>
      <p:sp>
        <p:nvSpPr>
          <p:cNvPr id="7" name="Shape 5"/>
          <p:cNvSpPr/>
          <p:nvPr/>
        </p:nvSpPr>
        <p:spPr>
          <a:xfrm>
            <a:off x="731520" y="2953512"/>
            <a:ext cx="475488" cy="475488"/>
          </a:xfrm>
          <a:prstGeom prst="ellipse">
            <a:avLst/>
          </a:prstGeom>
          <a:solidFill>
            <a:srgbClr val="4C1D95"/>
          </a:solidFill>
          <a:ln/>
        </p:spPr>
      </p:sp>
      <p:sp>
        <p:nvSpPr>
          <p:cNvPr id="8" name="Text 6"/>
          <p:cNvSpPr/>
          <p:nvPr/>
        </p:nvSpPr>
        <p:spPr>
          <a:xfrm>
            <a:off x="731520" y="2953512"/>
            <a:ext cx="475488" cy="475488"/>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9" name="Text 7"/>
          <p:cNvSpPr/>
          <p:nvPr/>
        </p:nvSpPr>
        <p:spPr>
          <a:xfrm>
            <a:off x="1417320" y="2916936"/>
            <a:ext cx="6217920" cy="1115568"/>
          </a:xfrm>
          <a:prstGeom prst="rect">
            <a:avLst/>
          </a:prstGeom>
          <a:noFill/>
          <a:ln/>
        </p:spPr>
        <p:txBody>
          <a:bodyPr wrap="square" rtlCol="0" anchor="t"/>
          <a:lstStyle/>
          <a:p>
            <a:pPr indent="0" marL="0">
              <a:lnSpc>
                <a:spcPct val="108000"/>
              </a:lnSpc>
              <a:spcAft>
                <a:spcPts val="300"/>
              </a:spcAft>
              <a:buNone/>
            </a:pPr>
            <a:r>
              <a:rPr lang="en-US" sz="1550" b="1" dirty="0">
                <a:solidFill>
                  <a:srgbClr val="4C1D95"/>
                </a:solidFill>
                <a:latin typeface="Segoe UI" pitchFamily="34" charset="0"/>
                <a:ea typeface="Segoe UI" pitchFamily="34" charset="-122"/>
                <a:cs typeface="Segoe UI" pitchFamily="34" charset="-120"/>
              </a:rPr>
              <a:t>One validated operation</a:t>
            </a:r>
            <a:endParaRPr lang="en-US" sz="1550" dirty="0"/>
          </a:p>
          <a:p>
            <a:pPr indent="0" marL="0">
              <a:lnSpc>
                <a:spcPct val="108000"/>
              </a:lnSpc>
              <a:buNone/>
            </a:pPr>
            <a:r>
              <a:rPr lang="en-US" sz="1400" dirty="0">
                <a:solidFill>
                  <a:srgbClr val="1F2430"/>
                </a:solidFill>
                <a:latin typeface="Segoe UI" pitchFamily="34" charset="0"/>
                <a:ea typeface="Segoe UI" pitchFamily="34" charset="-122"/>
                <a:cs typeface="Segoe UI" pitchFamily="34" charset="-120"/>
              </a:rPr>
              <a:t>Gemini 2.5 Flash must return exactly one whitelisted op — delete, trim, split, move, caption, brightness/contrast/saturation, zoom, rotate, mute — and the server range-clamps every numeric value.</a:t>
            </a:r>
            <a:endParaRPr lang="en-US" sz="1550" dirty="0"/>
          </a:p>
        </p:txBody>
      </p:sp>
      <p:sp>
        <p:nvSpPr>
          <p:cNvPr id="10" name="Shape 8"/>
          <p:cNvSpPr/>
          <p:nvPr/>
        </p:nvSpPr>
        <p:spPr>
          <a:xfrm>
            <a:off x="731520" y="4087368"/>
            <a:ext cx="475488" cy="475488"/>
          </a:xfrm>
          <a:prstGeom prst="ellipse">
            <a:avLst/>
          </a:prstGeom>
          <a:solidFill>
            <a:srgbClr val="4C1D95"/>
          </a:solidFill>
          <a:ln/>
        </p:spPr>
      </p:sp>
      <p:sp>
        <p:nvSpPr>
          <p:cNvPr id="11" name="Text 9"/>
          <p:cNvSpPr/>
          <p:nvPr/>
        </p:nvSpPr>
        <p:spPr>
          <a:xfrm>
            <a:off x="731520" y="4087368"/>
            <a:ext cx="475488" cy="475488"/>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2" name="Text 10"/>
          <p:cNvSpPr/>
          <p:nvPr/>
        </p:nvSpPr>
        <p:spPr>
          <a:xfrm>
            <a:off x="1417320" y="4050792"/>
            <a:ext cx="6217920" cy="1115568"/>
          </a:xfrm>
          <a:prstGeom prst="rect">
            <a:avLst/>
          </a:prstGeom>
          <a:noFill/>
          <a:ln/>
        </p:spPr>
        <p:txBody>
          <a:bodyPr wrap="square" rtlCol="0" anchor="t"/>
          <a:lstStyle/>
          <a:p>
            <a:pPr indent="0" marL="0">
              <a:lnSpc>
                <a:spcPct val="108000"/>
              </a:lnSpc>
              <a:spcAft>
                <a:spcPts val="300"/>
              </a:spcAft>
              <a:buNone/>
            </a:pPr>
            <a:r>
              <a:rPr lang="en-US" sz="1550" b="1" dirty="0">
                <a:solidFill>
                  <a:srgbClr val="4C1D95"/>
                </a:solidFill>
                <a:latin typeface="Segoe UI" pitchFamily="34" charset="0"/>
                <a:ea typeface="Segoe UI" pitchFamily="34" charset="-122"/>
                <a:cs typeface="Segoe UI" pitchFamily="34" charset="-120"/>
              </a:rPr>
              <a:t>Deterministic spoken summary</a:t>
            </a:r>
            <a:endParaRPr lang="en-US" sz="1550" dirty="0"/>
          </a:p>
          <a:p>
            <a:pPr indent="0" marL="0">
              <a:lnSpc>
                <a:spcPct val="108000"/>
              </a:lnSpc>
              <a:buNone/>
            </a:pPr>
            <a:r>
              <a:rPr lang="en-US" sz="1400" dirty="0">
                <a:solidFill>
                  <a:srgbClr val="1F2430"/>
                </a:solidFill>
                <a:latin typeface="Segoe UI" pitchFamily="34" charset="0"/>
                <a:ea typeface="Segoe UI" pitchFamily="34" charset="-122"/>
                <a:cs typeface="Segoe UI" pitchFamily="34" charset="-120"/>
              </a:rPr>
              <a:t>The confirmation sentence is composed by the app from the validated operation — never the model's free text — “because for a blind user a summary/op mismatch is unrecoverable.”</a:t>
            </a:r>
            <a:endParaRPr lang="en-US" sz="1550" dirty="0"/>
          </a:p>
        </p:txBody>
      </p:sp>
      <p:sp>
        <p:nvSpPr>
          <p:cNvPr id="13" name="Shape 11"/>
          <p:cNvSpPr/>
          <p:nvPr/>
        </p:nvSpPr>
        <p:spPr>
          <a:xfrm>
            <a:off x="731520" y="5221224"/>
            <a:ext cx="475488" cy="475488"/>
          </a:xfrm>
          <a:prstGeom prst="ellipse">
            <a:avLst/>
          </a:prstGeom>
          <a:solidFill>
            <a:srgbClr val="4C1D95"/>
          </a:solidFill>
          <a:ln/>
        </p:spPr>
      </p:sp>
      <p:sp>
        <p:nvSpPr>
          <p:cNvPr id="14" name="Text 12"/>
          <p:cNvSpPr/>
          <p:nvPr/>
        </p:nvSpPr>
        <p:spPr>
          <a:xfrm>
            <a:off x="731520" y="5221224"/>
            <a:ext cx="475488" cy="475488"/>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4</a:t>
            </a:r>
            <a:endParaRPr lang="en-US" sz="1800" dirty="0"/>
          </a:p>
        </p:txBody>
      </p:sp>
      <p:sp>
        <p:nvSpPr>
          <p:cNvPr id="15" name="Text 13"/>
          <p:cNvSpPr/>
          <p:nvPr/>
        </p:nvSpPr>
        <p:spPr>
          <a:xfrm>
            <a:off x="1417320" y="5184648"/>
            <a:ext cx="6217920" cy="1115568"/>
          </a:xfrm>
          <a:prstGeom prst="rect">
            <a:avLst/>
          </a:prstGeom>
          <a:noFill/>
          <a:ln/>
        </p:spPr>
        <p:txBody>
          <a:bodyPr wrap="square" rtlCol="0" anchor="t"/>
          <a:lstStyle/>
          <a:p>
            <a:pPr indent="0" marL="0">
              <a:lnSpc>
                <a:spcPct val="108000"/>
              </a:lnSpc>
              <a:spcAft>
                <a:spcPts val="300"/>
              </a:spcAft>
              <a:buNone/>
            </a:pPr>
            <a:r>
              <a:rPr lang="en-US" sz="1550" b="1" dirty="0">
                <a:solidFill>
                  <a:srgbClr val="4C1D95"/>
                </a:solidFill>
                <a:latin typeface="Segoe UI" pitchFamily="34" charset="0"/>
                <a:ea typeface="Segoe UI" pitchFamily="34" charset="-122"/>
                <a:cs typeface="Segoe UI" pitchFamily="34" charset="-120"/>
              </a:rPr>
              <a:t>Nothing applies until Confirm</a:t>
            </a:r>
            <a:endParaRPr lang="en-US" sz="1550" dirty="0"/>
          </a:p>
          <a:p>
            <a:pPr indent="0" marL="0">
              <a:lnSpc>
                <a:spcPct val="108000"/>
              </a:lnSpc>
              <a:buNone/>
            </a:pPr>
            <a:r>
              <a:rPr lang="en-US" sz="1400" dirty="0">
                <a:solidFill>
                  <a:srgbClr val="1F2430"/>
                </a:solidFill>
                <a:latin typeface="Segoe UI" pitchFamily="34" charset="0"/>
                <a:ea typeface="Segoe UI" pitchFamily="34" charset="-122"/>
                <a:cs typeface="Segoe UI" pitchFamily="34" charset="-120"/>
              </a:rPr>
              <a:t>The proposal appears as an alert dialog; ambiguous requests get one clarifying question instead of a guess.</a:t>
            </a:r>
            <a:endParaRPr lang="en-US" sz="1550" dirty="0"/>
          </a:p>
        </p:txBody>
      </p:sp>
      <p:pic>
        <p:nvPicPr>
          <p:cNvPr id="16" name="Image 0" descr="Editor screenshot with a modal dialog titled Confirm AI edit. Heading: Delete Scene 2? Body: I'll delete Scene 2 — the one where a person's hands are in a kitchen, picking up a mug and opening a red can to pour its contents into the mug. Buttons: Confirm (focused) and Cancel.">    </p:cNvPr>
          <p:cNvPicPr>
            <a:picLocks noChangeAspect="1"/>
          </p:cNvPicPr>
          <p:nvPr/>
        </p:nvPicPr>
        <p:blipFill>
          <a:blip r:embed="rId1"/>
          <a:stretch>
            <a:fillRect/>
          </a:stretch>
        </p:blipFill>
        <p:spPr>
          <a:xfrm>
            <a:off x="8549640" y="1691640"/>
            <a:ext cx="3186176" cy="4480560"/>
          </a:xfrm>
          <a:prstGeom prst="rect">
            <a:avLst/>
          </a:prstGeom>
        </p:spPr>
      </p:pic>
      <p:sp>
        <p:nvSpPr>
          <p:cNvPr id="17" name="Shape 14"/>
          <p:cNvSpPr/>
          <p:nvPr/>
        </p:nvSpPr>
        <p:spPr>
          <a:xfrm>
            <a:off x="8522208" y="1664208"/>
            <a:ext cx="3241040" cy="4535424"/>
          </a:xfrm>
          <a:prstGeom prst="roundRect">
            <a:avLst>
              <a:gd name="adj" fmla="val 1693"/>
            </a:avLst>
          </a:prstGeom>
          <a:ln w="22225">
            <a:solidFill>
              <a:srgbClr val="D8CFEC"/>
            </a:solidFill>
            <a:prstDash val="solid"/>
          </a:ln>
        </p:spPr>
      </p:sp>
      <p:sp>
        <p:nvSpPr>
          <p:cNvPr id="18" name="Text 15"/>
          <p:cNvSpPr/>
          <p:nvPr/>
        </p:nvSpPr>
        <p:spPr>
          <a:xfrm>
            <a:off x="8321040" y="6245352"/>
            <a:ext cx="3643376" cy="502920"/>
          </a:xfrm>
          <a:prstGeom prst="rect">
            <a:avLst/>
          </a:prstGeom>
          <a:noFill/>
          <a:ln/>
        </p:spPr>
        <p:txBody>
          <a:bodyPr wrap="square" rtlCol="0" anchor="t"/>
          <a:lstStyle/>
          <a:p>
            <a:pPr algn="ctr" indent="0" marL="0">
              <a:buNone/>
            </a:pPr>
            <a:r>
              <a:rPr lang="en-US" sz="1250" dirty="0">
                <a:solidFill>
                  <a:srgbClr val="444B5A"/>
                </a:solidFill>
                <a:latin typeface="Segoe UI" pitchFamily="34" charset="0"/>
                <a:ea typeface="Segoe UI" pitchFamily="34" charset="-122"/>
                <a:cs typeface="Segoe UI" pitchFamily="34" charset="-120"/>
              </a:rPr>
              <a:t>Confirm-first dialog for an AI edit</a:t>
            </a:r>
            <a:endParaRPr lang="en-US" sz="125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TWO DEVICES, ONE TIMELINE</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Live collaboration over Supabase Realtime</a:t>
            </a:r>
            <a:endParaRPr lang="en-US" sz="3000" dirty="0"/>
          </a:p>
        </p:txBody>
      </p:sp>
      <p:sp>
        <p:nvSpPr>
          <p:cNvPr id="4" name="Text 2"/>
          <p:cNvSpPr/>
          <p:nvPr/>
        </p:nvSpPr>
        <p:spPr>
          <a:xfrm>
            <a:off x="640080" y="1298448"/>
            <a:ext cx="10972800" cy="365760"/>
          </a:xfrm>
          <a:prstGeom prst="rect">
            <a:avLst/>
          </a:prstGeom>
          <a:noFill/>
          <a:ln/>
        </p:spPr>
        <p:txBody>
          <a:bodyPr wrap="square" rtlCol="0" anchor="ctr"/>
          <a:lstStyle/>
          <a:p>
            <a:pPr indent="0" marL="0">
              <a:buNone/>
            </a:pPr>
            <a:r>
              <a:rPr lang="en-US" sz="1500" dirty="0">
                <a:solidFill>
                  <a:srgbClr val="1F2430"/>
                </a:solidFill>
                <a:latin typeface="Segoe UI" pitchFamily="34" charset="0"/>
                <a:ea typeface="Segoe UI" pitchFamily="34" charset="-122"/>
                <a:cs typeface="Segoe UI" pitchFamily="34" charset="-120"/>
              </a:rPr>
              <a:t>One URL, one shared edit state, two role-adapted surfaces: the creator gets an audio-first scene list, the helper a visual timeline editor.</a:t>
            </a:r>
            <a:endParaRPr lang="en-US" sz="1500" dirty="0"/>
          </a:p>
        </p:txBody>
      </p:sp>
      <p:sp>
        <p:nvSpPr>
          <p:cNvPr id="5" name="Shape 3"/>
          <p:cNvSpPr/>
          <p:nvPr/>
        </p:nvSpPr>
        <p:spPr>
          <a:xfrm>
            <a:off x="640080" y="2194560"/>
            <a:ext cx="2468880" cy="2286000"/>
          </a:xfrm>
          <a:prstGeom prst="roundRect">
            <a:avLst>
              <a:gd name="adj" fmla="val 3600"/>
            </a:avLst>
          </a:prstGeom>
          <a:solidFill>
            <a:srgbClr val="F4F1FA"/>
          </a:solidFill>
          <a:ln w="19050">
            <a:solidFill>
              <a:srgbClr val="4C1D95"/>
            </a:solidFill>
            <a:prstDash val="solid"/>
          </a:ln>
        </p:spPr>
      </p:sp>
      <p:sp>
        <p:nvSpPr>
          <p:cNvPr id="6" name="Text 4"/>
          <p:cNvSpPr/>
          <p:nvPr/>
        </p:nvSpPr>
        <p:spPr>
          <a:xfrm>
            <a:off x="822960" y="2331720"/>
            <a:ext cx="2103120" cy="2011680"/>
          </a:xfrm>
          <a:prstGeom prst="rect">
            <a:avLst/>
          </a:prstGeom>
          <a:noFill/>
          <a:ln/>
        </p:spPr>
        <p:txBody>
          <a:bodyPr wrap="square" rtlCol="0" anchor="t"/>
          <a:lstStyle/>
          <a:p>
            <a:pPr indent="0" marL="0">
              <a:lnSpc>
                <a:spcPct val="110000"/>
              </a:lnSpc>
              <a:spcAft>
                <a:spcPts val="500"/>
              </a:spcAft>
              <a:buNone/>
            </a:pPr>
            <a:r>
              <a:rPr lang="en-US" sz="1550" b="1" dirty="0">
                <a:solidFill>
                  <a:srgbClr val="4C1D95"/>
                </a:solidFill>
                <a:latin typeface="Segoe UI" pitchFamily="34" charset="0"/>
                <a:ea typeface="Segoe UI" pitchFamily="34" charset="-122"/>
                <a:cs typeface="Segoe UI" pitchFamily="34" charset="-120"/>
              </a:rPr>
              <a:t>Creator (phone)</a:t>
            </a:r>
            <a:endParaRPr lang="en-US" sz="1550" dirty="0"/>
          </a:p>
          <a:p>
            <a:pPr indent="0" marL="0">
              <a:lnSpc>
                <a:spcPct val="110000"/>
              </a:lnSpc>
              <a:buNone/>
            </a:pPr>
            <a:r>
              <a:rPr lang="en-US" sz="1300" dirty="0">
                <a:solidFill>
                  <a:srgbClr val="1F2430"/>
                </a:solidFill>
                <a:latin typeface="Segoe UI" pitchFamily="34" charset="0"/>
                <a:ea typeface="Segoe UI" pitchFamily="34" charset="-122"/>
                <a:cs typeface="Segoe UI" pitchFamily="34" charset="-120"/>
              </a:rPr>
              <a:t>Scene blocks, TTS + earcons, voice input; the video element itself is hidden from assistive tech.</a:t>
            </a:r>
            <a:endParaRPr lang="en-US" sz="1550" dirty="0"/>
          </a:p>
        </p:txBody>
      </p:sp>
      <p:sp>
        <p:nvSpPr>
          <p:cNvPr id="7" name="Shape 5"/>
          <p:cNvSpPr/>
          <p:nvPr/>
        </p:nvSpPr>
        <p:spPr>
          <a:xfrm>
            <a:off x="9098280" y="2194560"/>
            <a:ext cx="2468880" cy="2286000"/>
          </a:xfrm>
          <a:prstGeom prst="roundRect">
            <a:avLst>
              <a:gd name="adj" fmla="val 3600"/>
            </a:avLst>
          </a:prstGeom>
          <a:solidFill>
            <a:srgbClr val="F4F1FA"/>
          </a:solidFill>
          <a:ln w="19050">
            <a:solidFill>
              <a:srgbClr val="0F766E"/>
            </a:solidFill>
            <a:prstDash val="solid"/>
          </a:ln>
        </p:spPr>
      </p:sp>
      <p:sp>
        <p:nvSpPr>
          <p:cNvPr id="8" name="Text 6"/>
          <p:cNvSpPr/>
          <p:nvPr/>
        </p:nvSpPr>
        <p:spPr>
          <a:xfrm>
            <a:off x="9281160" y="2331720"/>
            <a:ext cx="2103120" cy="2011680"/>
          </a:xfrm>
          <a:prstGeom prst="rect">
            <a:avLst/>
          </a:prstGeom>
          <a:noFill/>
          <a:ln/>
        </p:spPr>
        <p:txBody>
          <a:bodyPr wrap="square" rtlCol="0" anchor="t"/>
          <a:lstStyle/>
          <a:p>
            <a:pPr indent="0" marL="0">
              <a:lnSpc>
                <a:spcPct val="110000"/>
              </a:lnSpc>
              <a:spcAft>
                <a:spcPts val="500"/>
              </a:spcAft>
              <a:buNone/>
            </a:pPr>
            <a:r>
              <a:rPr lang="en-US" sz="1550" b="1" dirty="0">
                <a:solidFill>
                  <a:srgbClr val="0F766E"/>
                </a:solidFill>
                <a:latin typeface="Segoe UI" pitchFamily="34" charset="0"/>
                <a:ea typeface="Segoe UI" pitchFamily="34" charset="-122"/>
                <a:cs typeface="Segoe UI" pitchFamily="34" charset="-120"/>
              </a:rPr>
              <a:t>Helper (laptop)</a:t>
            </a:r>
            <a:endParaRPr lang="en-US" sz="1550" dirty="0"/>
          </a:p>
          <a:p>
            <a:pPr indent="0" marL="0">
              <a:lnSpc>
                <a:spcPct val="110000"/>
              </a:lnSpc>
              <a:buNone/>
            </a:pPr>
            <a:r>
              <a:rPr lang="en-US" sz="1300" dirty="0">
                <a:solidFill>
                  <a:srgbClr val="1F2430"/>
                </a:solidFill>
                <a:latin typeface="Segoe UI" pitchFamily="34" charset="0"/>
                <a:ea typeface="Segoe UI" pitchFamily="34" charset="-122"/>
                <a:cs typeface="Segoe UI" pitchFamily="34" charset="-120"/>
              </a:rPr>
              <a:t>Synced preview + activity feed, trim/split/move, captions, text overlays, colour sliders.</a:t>
            </a:r>
            <a:endParaRPr lang="en-US" sz="1550" dirty="0"/>
          </a:p>
        </p:txBody>
      </p:sp>
      <p:sp>
        <p:nvSpPr>
          <p:cNvPr id="9" name="Shape 7"/>
          <p:cNvSpPr/>
          <p:nvPr/>
        </p:nvSpPr>
        <p:spPr>
          <a:xfrm>
            <a:off x="3520440" y="1965960"/>
            <a:ext cx="5166360" cy="2651760"/>
          </a:xfrm>
          <a:prstGeom prst="roundRect">
            <a:avLst>
              <a:gd name="adj" fmla="val 3103"/>
            </a:avLst>
          </a:prstGeom>
          <a:solidFill>
            <a:srgbClr val="FFFFFF"/>
          </a:solidFill>
          <a:ln w="25400">
            <a:solidFill>
              <a:srgbClr val="6D28D9"/>
            </a:solidFill>
            <a:prstDash val="solid"/>
          </a:ln>
        </p:spPr>
      </p:sp>
      <p:sp>
        <p:nvSpPr>
          <p:cNvPr id="10" name="Text 8"/>
          <p:cNvSpPr/>
          <p:nvPr/>
        </p:nvSpPr>
        <p:spPr>
          <a:xfrm>
            <a:off x="3520440" y="2039112"/>
            <a:ext cx="5166360" cy="365760"/>
          </a:xfrm>
          <a:prstGeom prst="rect">
            <a:avLst/>
          </a:prstGeom>
          <a:noFill/>
          <a:ln/>
        </p:spPr>
        <p:txBody>
          <a:bodyPr wrap="square" rtlCol="0" anchor="ctr"/>
          <a:lstStyle/>
          <a:p>
            <a:pPr algn="ctr" indent="0" marL="0">
              <a:buNone/>
            </a:pPr>
            <a:r>
              <a:rPr lang="en-US" sz="1400" b="1" dirty="0">
                <a:solidFill>
                  <a:srgbClr val="6D28D9"/>
                </a:solidFill>
                <a:latin typeface="Segoe UI" pitchFamily="34" charset="0"/>
                <a:ea typeface="Segoe UI" pitchFamily="34" charset="-122"/>
                <a:cs typeface="Segoe UI" pitchFamily="34" charset="-120"/>
              </a:rPr>
              <a:t>one Realtime channel per project</a:t>
            </a:r>
            <a:endParaRPr lang="en-US" sz="1400" dirty="0"/>
          </a:p>
        </p:txBody>
      </p:sp>
      <p:sp>
        <p:nvSpPr>
          <p:cNvPr id="11" name="Shape 9"/>
          <p:cNvSpPr/>
          <p:nvPr/>
        </p:nvSpPr>
        <p:spPr>
          <a:xfrm>
            <a:off x="3749040" y="2468880"/>
            <a:ext cx="4709160" cy="621792"/>
          </a:xfrm>
          <a:prstGeom prst="roundRect">
            <a:avLst>
              <a:gd name="adj" fmla="val 8824"/>
            </a:avLst>
          </a:prstGeom>
          <a:solidFill>
            <a:srgbClr val="F4F1FA"/>
          </a:solidFill>
          <a:ln w="12700">
            <a:solidFill>
              <a:srgbClr val="D8CFEC"/>
            </a:solidFill>
            <a:prstDash val="solid"/>
          </a:ln>
        </p:spPr>
      </p:sp>
      <p:sp>
        <p:nvSpPr>
          <p:cNvPr id="12" name="Text 10"/>
          <p:cNvSpPr/>
          <p:nvPr/>
        </p:nvSpPr>
        <p:spPr>
          <a:xfrm>
            <a:off x="3886200" y="2496312"/>
            <a:ext cx="4480560" cy="566928"/>
          </a:xfrm>
          <a:prstGeom prst="rect">
            <a:avLst/>
          </a:prstGeom>
          <a:noFill/>
          <a:ln/>
        </p:spPr>
        <p:txBody>
          <a:bodyPr wrap="square" rtlCol="0" anchor="ctr"/>
          <a:lstStyle/>
          <a:p>
            <a:pPr indent="0" marL="0">
              <a:lnSpc>
                <a:spcPct val="102000"/>
              </a:lnSpc>
              <a:buNone/>
            </a:pPr>
            <a:r>
              <a:rPr lang="en-US" sz="1250" b="1" dirty="0">
                <a:solidFill>
                  <a:srgbClr val="4C1D95"/>
                </a:solidFill>
                <a:latin typeface="Segoe UI" pitchFamily="34" charset="0"/>
                <a:ea typeface="Segoe UI" pitchFamily="34" charset="-122"/>
                <a:cs typeface="Segoe UI" pitchFamily="34" charset="-120"/>
              </a:rPr>
              <a:t>postgres_changes — durable:  </a:t>
            </a:r>
            <a:pPr indent="0" marL="0">
              <a:lnSpc>
                <a:spcPct val="102000"/>
              </a:lnSpc>
              <a:buNone/>
            </a:pPr>
            <a:r>
              <a:rPr lang="en-US" sz="1250" dirty="0">
                <a:solidFill>
                  <a:srgbClr val="1F2430"/>
                </a:solidFill>
                <a:latin typeface="Segoe UI" pitchFamily="34" charset="0"/>
                <a:ea typeface="Segoe UI" pitchFamily="34" charset="-122"/>
                <a:cs typeface="Segoe UI" pitchFamily="34" charset="-120"/>
              </a:rPr>
              <a:t>timeline state, tasks, suggestions, render status</a:t>
            </a:r>
            <a:endParaRPr lang="en-US" sz="1250" dirty="0"/>
          </a:p>
        </p:txBody>
      </p:sp>
      <p:sp>
        <p:nvSpPr>
          <p:cNvPr id="13" name="Shape 11"/>
          <p:cNvSpPr/>
          <p:nvPr/>
        </p:nvSpPr>
        <p:spPr>
          <a:xfrm>
            <a:off x="3749040" y="3182112"/>
            <a:ext cx="4709160" cy="621792"/>
          </a:xfrm>
          <a:prstGeom prst="roundRect">
            <a:avLst>
              <a:gd name="adj" fmla="val 8824"/>
            </a:avLst>
          </a:prstGeom>
          <a:solidFill>
            <a:srgbClr val="F4F1FA"/>
          </a:solidFill>
          <a:ln w="12700">
            <a:solidFill>
              <a:srgbClr val="D8CFEC"/>
            </a:solidFill>
            <a:prstDash val="solid"/>
          </a:ln>
        </p:spPr>
      </p:sp>
      <p:sp>
        <p:nvSpPr>
          <p:cNvPr id="14" name="Text 12"/>
          <p:cNvSpPr/>
          <p:nvPr/>
        </p:nvSpPr>
        <p:spPr>
          <a:xfrm>
            <a:off x="3886200" y="3209544"/>
            <a:ext cx="4480560" cy="566928"/>
          </a:xfrm>
          <a:prstGeom prst="rect">
            <a:avLst/>
          </a:prstGeom>
          <a:noFill/>
          <a:ln/>
        </p:spPr>
        <p:txBody>
          <a:bodyPr wrap="square" rtlCol="0" anchor="ctr"/>
          <a:lstStyle/>
          <a:p>
            <a:pPr indent="0" marL="0">
              <a:lnSpc>
                <a:spcPct val="102000"/>
              </a:lnSpc>
              <a:buNone/>
            </a:pPr>
            <a:r>
              <a:rPr lang="en-US" sz="1250" b="1" dirty="0">
                <a:solidFill>
                  <a:srgbClr val="4C1D95"/>
                </a:solidFill>
                <a:latin typeface="Segoe UI" pitchFamily="34" charset="0"/>
                <a:ea typeface="Segoe UI" pitchFamily="34" charset="-122"/>
                <a:cs typeface="Segoe UI" pitchFamily="34" charset="-120"/>
              </a:rPr>
              <a:t>broadcast — ephemeral:  </a:t>
            </a:r>
            <a:pPr indent="0" marL="0">
              <a:lnSpc>
                <a:spcPct val="102000"/>
              </a:lnSpc>
              <a:buNone/>
            </a:pPr>
            <a:r>
              <a:rPr lang="en-US" sz="1250" dirty="0">
                <a:solidFill>
                  <a:srgbClr val="1F2430"/>
                </a:solidFill>
                <a:latin typeface="Segoe UI" pitchFamily="34" charset="0"/>
                <a:ea typeface="Segoe UI" pitchFamily="34" charset="-122"/>
                <a:cs typeface="Segoe UI" pitchFamily="34" charset="-120"/>
              </a:rPr>
              <a:t>playhead (2 s throttle), play/pause, activity feed</a:t>
            </a:r>
            <a:endParaRPr lang="en-US" sz="1250" dirty="0"/>
          </a:p>
        </p:txBody>
      </p:sp>
      <p:sp>
        <p:nvSpPr>
          <p:cNvPr id="15" name="Shape 13"/>
          <p:cNvSpPr/>
          <p:nvPr/>
        </p:nvSpPr>
        <p:spPr>
          <a:xfrm>
            <a:off x="3749040" y="3895344"/>
            <a:ext cx="4709160" cy="621792"/>
          </a:xfrm>
          <a:prstGeom prst="roundRect">
            <a:avLst>
              <a:gd name="adj" fmla="val 8824"/>
            </a:avLst>
          </a:prstGeom>
          <a:solidFill>
            <a:srgbClr val="F4F1FA"/>
          </a:solidFill>
          <a:ln w="12700">
            <a:solidFill>
              <a:srgbClr val="D8CFEC"/>
            </a:solidFill>
            <a:prstDash val="solid"/>
          </a:ln>
        </p:spPr>
      </p:sp>
      <p:sp>
        <p:nvSpPr>
          <p:cNvPr id="16" name="Text 14"/>
          <p:cNvSpPr/>
          <p:nvPr/>
        </p:nvSpPr>
        <p:spPr>
          <a:xfrm>
            <a:off x="3886200" y="3922776"/>
            <a:ext cx="4480560" cy="566928"/>
          </a:xfrm>
          <a:prstGeom prst="rect">
            <a:avLst/>
          </a:prstGeom>
          <a:noFill/>
          <a:ln/>
        </p:spPr>
        <p:txBody>
          <a:bodyPr wrap="square" rtlCol="0" anchor="ctr"/>
          <a:lstStyle/>
          <a:p>
            <a:pPr indent="0" marL="0">
              <a:lnSpc>
                <a:spcPct val="102000"/>
              </a:lnSpc>
              <a:buNone/>
            </a:pPr>
            <a:r>
              <a:rPr lang="en-US" sz="1250" b="1" dirty="0">
                <a:solidFill>
                  <a:srgbClr val="4C1D95"/>
                </a:solidFill>
                <a:latin typeface="Segoe UI" pitchFamily="34" charset="0"/>
                <a:ea typeface="Segoe UI" pitchFamily="34" charset="-122"/>
                <a:cs typeface="Segoe UI" pitchFamily="34" charset="-120"/>
              </a:rPr>
              <a:t>presence — awareness:  </a:t>
            </a:r>
            <a:pPr indent="0" marL="0">
              <a:lnSpc>
                <a:spcPct val="102000"/>
              </a:lnSpc>
              <a:buNone/>
            </a:pPr>
            <a:r>
              <a:rPr lang="en-US" sz="1250" dirty="0">
                <a:solidFill>
                  <a:srgbClr val="1F2430"/>
                </a:solidFill>
                <a:latin typeface="Segoe UI" pitchFamily="34" charset="0"/>
                <a:ea typeface="Segoe UI" pitchFamily="34" charset="-122"/>
                <a:cs typeface="Segoe UI" pitchFamily="34" charset="-120"/>
              </a:rPr>
              <a:t>“Helper joined the editor”, announced aloud</a:t>
            </a:r>
            <a:endParaRPr lang="en-US" sz="1250" dirty="0"/>
          </a:p>
        </p:txBody>
      </p:sp>
      <p:sp>
        <p:nvSpPr>
          <p:cNvPr id="17" name="Shape 15"/>
          <p:cNvSpPr/>
          <p:nvPr/>
        </p:nvSpPr>
        <p:spPr>
          <a:xfrm>
            <a:off x="3127248" y="3310128"/>
            <a:ext cx="384048" cy="0"/>
          </a:xfrm>
          <a:prstGeom prst="line">
            <a:avLst/>
          </a:prstGeom>
          <a:noFill/>
          <a:ln w="31750">
            <a:solidFill>
              <a:srgbClr val="6D28D9"/>
            </a:solidFill>
            <a:prstDash val="solid"/>
            <a:headEnd type="arrow"/>
            <a:tailEnd type="arrow"/>
          </a:ln>
        </p:spPr>
      </p:sp>
      <p:sp>
        <p:nvSpPr>
          <p:cNvPr id="18" name="Shape 16"/>
          <p:cNvSpPr/>
          <p:nvPr/>
        </p:nvSpPr>
        <p:spPr>
          <a:xfrm>
            <a:off x="8695944" y="3310128"/>
            <a:ext cx="384048" cy="0"/>
          </a:xfrm>
          <a:prstGeom prst="line">
            <a:avLst/>
          </a:prstGeom>
          <a:noFill/>
          <a:ln w="31750">
            <a:solidFill>
              <a:srgbClr val="6D28D9"/>
            </a:solidFill>
            <a:prstDash val="solid"/>
            <a:headEnd type="arrow"/>
            <a:tailEnd type="arrow"/>
          </a:ln>
        </p:spPr>
      </p:sp>
      <p:sp>
        <p:nvSpPr>
          <p:cNvPr id="19" name="Text 17"/>
          <p:cNvSpPr/>
          <p:nvPr/>
        </p:nvSpPr>
        <p:spPr>
          <a:xfrm>
            <a:off x="640080" y="4892040"/>
            <a:ext cx="10972800" cy="1737360"/>
          </a:xfrm>
          <a:prstGeom prst="rect">
            <a:avLst/>
          </a:prstGeom>
          <a:noFill/>
          <a:ln/>
        </p:spPr>
        <p:txBody>
          <a:bodyPr wrap="square" rtlCol="0" anchor="t"/>
          <a:lstStyle/>
          <a:p>
            <a:pPr algn="l" marL="177800" indent="-177800">
              <a:lnSpc>
                <a:spcPct val="112000"/>
              </a:lnSpc>
              <a:spcAft>
                <a:spcPts val="800"/>
              </a:spcAft>
              <a:buSzPct val="100000"/>
              <a:buChar char="•"/>
            </a:pPr>
            <a:r>
              <a:rPr lang="en-US" sz="1400" dirty="0">
                <a:solidFill>
                  <a:srgbClr val="1F2430"/>
                </a:solidFill>
                <a:latin typeface="Segoe UI" pitchFamily="34" charset="0"/>
                <a:ea typeface="Segoe UI" pitchFamily="34" charset="-122"/>
                <a:cs typeface="Segoe UI" pitchFamily="34" charset="-120"/>
              </a:rPr>
              <a:t>Edit state is append-only, versioned JSONB: save version N+1; if the peer saved first, the unique index rejects it and the client rebases its operation onto the latest state and retries — two-person convergence without a CRDT.</a:t>
            </a:r>
            <a:endParaRPr lang="en-US" sz="1400" dirty="0"/>
          </a:p>
          <a:p>
            <a:pPr algn="l" marL="177800" indent="-177800">
              <a:lnSpc>
                <a:spcPct val="112000"/>
              </a:lnSpc>
              <a:spcAft>
                <a:spcPts val="800"/>
              </a:spcAft>
              <a:buSzPct val="100000"/>
              <a:buChar char="•"/>
            </a:pPr>
            <a:r>
              <a:rPr lang="en-US" sz="1400" dirty="0">
                <a:solidFill>
                  <a:srgbClr val="1F2430"/>
                </a:solidFill>
                <a:latin typeface="Segoe UI" pitchFamily="34" charset="0"/>
                <a:ea typeface="Segoe UI" pitchFamily="34" charset="-122"/>
                <a:cs typeface="Segoe UI" pitchFamily="34" charset="-120"/>
              </a:rPr>
              <a:t>The helper's colour grading reaches the creator's playing video live as a CSS filter, and export reproduces it with mathematically matched FFmpeg filters.</a:t>
            </a:r>
            <a:endParaRPr lang="en-US" sz="1400" dirty="0"/>
          </a:p>
          <a:p>
            <a:pPr algn="l" marL="177800" indent="-177800">
              <a:lnSpc>
                <a:spcPct val="112000"/>
              </a:lnSpc>
              <a:spcAft>
                <a:spcPts val="800"/>
              </a:spcAft>
              <a:buSzPct val="100000"/>
              <a:buChar char="•"/>
            </a:pPr>
            <a:r>
              <a:rPr lang="en-US" sz="1400" dirty="0">
                <a:solidFill>
                  <a:srgbClr val="1F2430"/>
                </a:solidFill>
                <a:latin typeface="Segoe UI" pitchFamily="34" charset="0"/>
                <a:ea typeface="Segoe UI" pitchFamily="34" charset="-122"/>
                <a:cs typeface="Segoe UI" pitchFamily="34" charset="-120"/>
              </a:rPr>
              <a:t>Every remote change is narrated on the other device — “Your helper trimmed scene 2” — and a reconnect refetches everything, so state survives refreshes and dropped connections.</a:t>
            </a:r>
            <a:endParaRPr lang="en-US" sz="140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BUILT AUDIO-FIRST</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Accessibility is the product, not a checklist</a:t>
            </a:r>
            <a:endParaRPr lang="en-US" sz="3000" dirty="0"/>
          </a:p>
        </p:txBody>
      </p:sp>
      <p:sp>
        <p:nvSpPr>
          <p:cNvPr id="4" name="Shape 2"/>
          <p:cNvSpPr/>
          <p:nvPr/>
        </p:nvSpPr>
        <p:spPr>
          <a:xfrm>
            <a:off x="640080" y="1691640"/>
            <a:ext cx="3419856" cy="1965960"/>
          </a:xfrm>
          <a:prstGeom prst="roundRect">
            <a:avLst>
              <a:gd name="adj" fmla="val 3721"/>
            </a:avLst>
          </a:prstGeom>
          <a:solidFill>
            <a:srgbClr val="F4F1FA"/>
          </a:solidFill>
          <a:ln w="12700">
            <a:solidFill>
              <a:srgbClr val="D8CFEC"/>
            </a:solidFill>
            <a:prstDash val="solid"/>
          </a:ln>
        </p:spPr>
      </p:sp>
      <p:sp>
        <p:nvSpPr>
          <p:cNvPr id="5" name="Text 3"/>
          <p:cNvSpPr/>
          <p:nvPr/>
        </p:nvSpPr>
        <p:spPr>
          <a:xfrm>
            <a:off x="804672" y="1810512"/>
            <a:ext cx="3090672" cy="1755648"/>
          </a:xfrm>
          <a:prstGeom prst="rect">
            <a:avLst/>
          </a:prstGeom>
          <a:noFill/>
          <a:ln/>
        </p:spPr>
        <p:txBody>
          <a:bodyPr wrap="square" rtlCol="0" anchor="t"/>
          <a:lstStyle/>
          <a:p>
            <a:pPr indent="0" marL="0">
              <a:lnSpc>
                <a:spcPct val="106000"/>
              </a:lnSpc>
              <a:spcAft>
                <a:spcPts val="400"/>
              </a:spcAft>
              <a:buNone/>
            </a:pPr>
            <a:r>
              <a:rPr lang="en-US" sz="1500" b="1" dirty="0">
                <a:solidFill>
                  <a:srgbClr val="4C1D95"/>
                </a:solidFill>
                <a:latin typeface="Segoe UI" pitchFamily="34" charset="0"/>
                <a:ea typeface="Segoe UI" pitchFamily="34" charset="-122"/>
                <a:cs typeface="Segoe UI" pitchFamily="34" charset="-120"/>
              </a:rPr>
              <a:t>One voice, never two</a:t>
            </a:r>
            <a:endParaRPr lang="en-US" sz="1500" dirty="0"/>
          </a:p>
          <a:p>
            <a:pPr indent="0" marL="0">
              <a:lnSpc>
                <a:spcPct val="106000"/>
              </a:lnSpc>
              <a:buNone/>
            </a:pPr>
            <a:r>
              <a:rPr lang="en-US" sz="1250" dirty="0">
                <a:solidFill>
                  <a:srgbClr val="1F2430"/>
                </a:solidFill>
                <a:latin typeface="Segoe UI" pitchFamily="34" charset="0"/>
                <a:ea typeface="Segoe UI" pitchFamily="34" charset="-122"/>
                <a:cs typeface="Segoe UI" pitchFamily="34" charset="-120"/>
              </a:rPr>
              <a:t>A queued app-wide announcer: polite + assertive live regions, messages drained one at a time with 150 ms gaps, visual echoes aria-hidden — nothing is ever spoken twice.</a:t>
            </a:r>
            <a:endParaRPr lang="en-US" sz="1500" dirty="0"/>
          </a:p>
        </p:txBody>
      </p:sp>
      <p:sp>
        <p:nvSpPr>
          <p:cNvPr id="6" name="Shape 4"/>
          <p:cNvSpPr/>
          <p:nvPr/>
        </p:nvSpPr>
        <p:spPr>
          <a:xfrm>
            <a:off x="4379976" y="1691640"/>
            <a:ext cx="3419856" cy="1965960"/>
          </a:xfrm>
          <a:prstGeom prst="roundRect">
            <a:avLst>
              <a:gd name="adj" fmla="val 3721"/>
            </a:avLst>
          </a:prstGeom>
          <a:solidFill>
            <a:srgbClr val="F4F1FA"/>
          </a:solidFill>
          <a:ln w="12700">
            <a:solidFill>
              <a:srgbClr val="D8CFEC"/>
            </a:solidFill>
            <a:prstDash val="solid"/>
          </a:ln>
        </p:spPr>
      </p:sp>
      <p:sp>
        <p:nvSpPr>
          <p:cNvPr id="7" name="Text 5"/>
          <p:cNvSpPr/>
          <p:nvPr/>
        </p:nvSpPr>
        <p:spPr>
          <a:xfrm>
            <a:off x="4544568" y="1810512"/>
            <a:ext cx="3090672" cy="1755648"/>
          </a:xfrm>
          <a:prstGeom prst="rect">
            <a:avLst/>
          </a:prstGeom>
          <a:noFill/>
          <a:ln/>
        </p:spPr>
        <p:txBody>
          <a:bodyPr wrap="square" rtlCol="0" anchor="t"/>
          <a:lstStyle/>
          <a:p>
            <a:pPr indent="0" marL="0">
              <a:lnSpc>
                <a:spcPct val="106000"/>
              </a:lnSpc>
              <a:spcAft>
                <a:spcPts val="400"/>
              </a:spcAft>
              <a:buNone/>
            </a:pPr>
            <a:r>
              <a:rPr lang="en-US" sz="1500" b="1" dirty="0">
                <a:solidFill>
                  <a:srgbClr val="4C1D95"/>
                </a:solidFill>
                <a:latin typeface="Segoe UI" pitchFamily="34" charset="0"/>
                <a:ea typeface="Segoe UI" pitchFamily="34" charset="-122"/>
                <a:cs typeface="Segoe UI" pitchFamily="34" charset="-120"/>
              </a:rPr>
              <a:t>Sound as interface</a:t>
            </a:r>
            <a:endParaRPr lang="en-US" sz="1500" dirty="0"/>
          </a:p>
          <a:p>
            <a:pPr indent="0" marL="0">
              <a:lnSpc>
                <a:spcPct val="106000"/>
              </a:lnSpc>
              <a:buNone/>
            </a:pPr>
            <a:r>
              <a:rPr lang="en-US" sz="1250" dirty="0">
                <a:solidFill>
                  <a:srgbClr val="1F2430"/>
                </a:solidFill>
                <a:latin typeface="Segoe UI" pitchFamily="34" charset="0"/>
                <a:ea typeface="Segoe UI" pitchFamily="34" charset="-122"/>
                <a:cs typeface="Segoe UI" pitchFamily="34" charset="-120"/>
              </a:rPr>
              <a:t>Earcons from one shared AudioContext: rising 880 Hz “speak now”, 587 Hz “got it”, low 330 Hz error, analysis-done chime. TTS reads descriptions at the user's rate (0.5–2×).</a:t>
            </a:r>
            <a:endParaRPr lang="en-US" sz="1500" dirty="0"/>
          </a:p>
        </p:txBody>
      </p:sp>
      <p:sp>
        <p:nvSpPr>
          <p:cNvPr id="8" name="Shape 6"/>
          <p:cNvSpPr/>
          <p:nvPr/>
        </p:nvSpPr>
        <p:spPr>
          <a:xfrm>
            <a:off x="8119872" y="1691640"/>
            <a:ext cx="3419856" cy="1965960"/>
          </a:xfrm>
          <a:prstGeom prst="roundRect">
            <a:avLst>
              <a:gd name="adj" fmla="val 3721"/>
            </a:avLst>
          </a:prstGeom>
          <a:solidFill>
            <a:srgbClr val="F4F1FA"/>
          </a:solidFill>
          <a:ln w="12700">
            <a:solidFill>
              <a:srgbClr val="D8CFEC"/>
            </a:solidFill>
            <a:prstDash val="solid"/>
          </a:ln>
        </p:spPr>
      </p:sp>
      <p:sp>
        <p:nvSpPr>
          <p:cNvPr id="9" name="Text 7"/>
          <p:cNvSpPr/>
          <p:nvPr/>
        </p:nvSpPr>
        <p:spPr>
          <a:xfrm>
            <a:off x="8284464" y="1810512"/>
            <a:ext cx="3090672" cy="1755648"/>
          </a:xfrm>
          <a:prstGeom prst="rect">
            <a:avLst/>
          </a:prstGeom>
          <a:noFill/>
          <a:ln/>
        </p:spPr>
        <p:txBody>
          <a:bodyPr wrap="square" rtlCol="0" anchor="t"/>
          <a:lstStyle/>
          <a:p>
            <a:pPr indent="0" marL="0">
              <a:lnSpc>
                <a:spcPct val="106000"/>
              </a:lnSpc>
              <a:spcAft>
                <a:spcPts val="400"/>
              </a:spcAft>
              <a:buNone/>
            </a:pPr>
            <a:r>
              <a:rPr lang="en-US" sz="1500" b="1" dirty="0">
                <a:solidFill>
                  <a:srgbClr val="4C1D95"/>
                </a:solidFill>
                <a:latin typeface="Segoe UI" pitchFamily="34" charset="0"/>
                <a:ea typeface="Segoe UI" pitchFamily="34" charset="-122"/>
                <a:cs typeface="Segoe UI" pitchFamily="34" charset="-120"/>
              </a:rPr>
              <a:t>The video is invisible</a:t>
            </a:r>
            <a:endParaRPr lang="en-US" sz="1500" dirty="0"/>
          </a:p>
          <a:p>
            <a:pPr indent="0" marL="0">
              <a:lnSpc>
                <a:spcPct val="106000"/>
              </a:lnSpc>
              <a:buNone/>
            </a:pPr>
            <a:r>
              <a:rPr lang="en-US" sz="1250" dirty="0">
                <a:solidFill>
                  <a:srgbClr val="1F2430"/>
                </a:solidFill>
                <a:latin typeface="Segoe UI" pitchFamily="34" charset="0"/>
                <a:ea typeface="Segoe UI" pitchFamily="34" charset="-122"/>
                <a:cs typeface="Segoe UI" pitchFamily="34" charset="-120"/>
              </a:rPr>
              <a:t>On the creator device the player is aria-hidden and inert on purpose — the scene-block list is the interface, and each block's name carries the full description.</a:t>
            </a:r>
            <a:endParaRPr lang="en-US" sz="1500" dirty="0"/>
          </a:p>
        </p:txBody>
      </p:sp>
      <p:sp>
        <p:nvSpPr>
          <p:cNvPr id="10" name="Shape 8"/>
          <p:cNvSpPr/>
          <p:nvPr/>
        </p:nvSpPr>
        <p:spPr>
          <a:xfrm>
            <a:off x="640080" y="3950208"/>
            <a:ext cx="3419856" cy="1965960"/>
          </a:xfrm>
          <a:prstGeom prst="roundRect">
            <a:avLst>
              <a:gd name="adj" fmla="val 3721"/>
            </a:avLst>
          </a:prstGeom>
          <a:solidFill>
            <a:srgbClr val="F4F1FA"/>
          </a:solidFill>
          <a:ln w="12700">
            <a:solidFill>
              <a:srgbClr val="D8CFEC"/>
            </a:solidFill>
            <a:prstDash val="solid"/>
          </a:ln>
        </p:spPr>
      </p:sp>
      <p:sp>
        <p:nvSpPr>
          <p:cNvPr id="11" name="Text 9"/>
          <p:cNvSpPr/>
          <p:nvPr/>
        </p:nvSpPr>
        <p:spPr>
          <a:xfrm>
            <a:off x="804672" y="4069080"/>
            <a:ext cx="3090672" cy="1755648"/>
          </a:xfrm>
          <a:prstGeom prst="rect">
            <a:avLst/>
          </a:prstGeom>
          <a:noFill/>
          <a:ln/>
        </p:spPr>
        <p:txBody>
          <a:bodyPr wrap="square" rtlCol="0" anchor="t"/>
          <a:lstStyle/>
          <a:p>
            <a:pPr indent="0" marL="0">
              <a:lnSpc>
                <a:spcPct val="106000"/>
              </a:lnSpc>
              <a:spcAft>
                <a:spcPts val="400"/>
              </a:spcAft>
              <a:buNone/>
            </a:pPr>
            <a:r>
              <a:rPr lang="en-US" sz="1500" b="1" dirty="0">
                <a:solidFill>
                  <a:srgbClr val="4C1D95"/>
                </a:solidFill>
                <a:latin typeface="Segoe UI" pitchFamily="34" charset="0"/>
                <a:ea typeface="Segoe UI" pitchFamily="34" charset="-122"/>
                <a:cs typeface="Segoe UI" pitchFamily="34" charset="-120"/>
              </a:rPr>
              <a:t>Focus follows the work</a:t>
            </a:r>
            <a:endParaRPr lang="en-US" sz="1500" dirty="0"/>
          </a:p>
          <a:p>
            <a:pPr indent="0" marL="0">
              <a:lnSpc>
                <a:spcPct val="106000"/>
              </a:lnSpc>
              <a:buNone/>
            </a:pPr>
            <a:r>
              <a:rPr lang="en-US" sz="1250" dirty="0">
                <a:solidFill>
                  <a:srgbClr val="1F2430"/>
                </a:solidFill>
                <a:latin typeface="Segoe UI" pitchFamily="34" charset="0"/>
                <a:ea typeface="Segoe UI" pitchFamily="34" charset="-122"/>
                <a:cs typeface="Segoe UI" pitchFamily="34" charset="-120"/>
              </a:rPr>
              <a:t>Analysis done → first suggestion; render done → the Download link; suggestion routed → its resolution badge. Auto-follow during playback moves no focus at all — participants asked for silence.</a:t>
            </a:r>
            <a:endParaRPr lang="en-US" sz="1500" dirty="0"/>
          </a:p>
        </p:txBody>
      </p:sp>
      <p:sp>
        <p:nvSpPr>
          <p:cNvPr id="12" name="Shape 10"/>
          <p:cNvSpPr/>
          <p:nvPr/>
        </p:nvSpPr>
        <p:spPr>
          <a:xfrm>
            <a:off x="4379976" y="3950208"/>
            <a:ext cx="3419856" cy="1965960"/>
          </a:xfrm>
          <a:prstGeom prst="roundRect">
            <a:avLst>
              <a:gd name="adj" fmla="val 3721"/>
            </a:avLst>
          </a:prstGeom>
          <a:solidFill>
            <a:srgbClr val="F4F1FA"/>
          </a:solidFill>
          <a:ln w="12700">
            <a:solidFill>
              <a:srgbClr val="D8CFEC"/>
            </a:solidFill>
            <a:prstDash val="solid"/>
          </a:ln>
        </p:spPr>
      </p:sp>
      <p:sp>
        <p:nvSpPr>
          <p:cNvPr id="13" name="Text 11"/>
          <p:cNvSpPr/>
          <p:nvPr/>
        </p:nvSpPr>
        <p:spPr>
          <a:xfrm>
            <a:off x="4544568" y="4069080"/>
            <a:ext cx="3090672" cy="1755648"/>
          </a:xfrm>
          <a:prstGeom prst="rect">
            <a:avLst/>
          </a:prstGeom>
          <a:noFill/>
          <a:ln/>
        </p:spPr>
        <p:txBody>
          <a:bodyPr wrap="square" rtlCol="0" anchor="t"/>
          <a:lstStyle/>
          <a:p>
            <a:pPr indent="0" marL="0">
              <a:lnSpc>
                <a:spcPct val="106000"/>
              </a:lnSpc>
              <a:spcAft>
                <a:spcPts val="400"/>
              </a:spcAft>
              <a:buNone/>
            </a:pPr>
            <a:r>
              <a:rPr lang="en-US" sz="1500" b="1" dirty="0">
                <a:solidFill>
                  <a:srgbClr val="4C1D95"/>
                </a:solidFill>
                <a:latin typeface="Segoe UI" pitchFamily="34" charset="0"/>
                <a:ea typeface="Segoe UI" pitchFamily="34" charset="-122"/>
                <a:cs typeface="Segoe UI" pitchFamily="34" charset="-120"/>
              </a:rPr>
              <a:t>Fixes from the field</a:t>
            </a:r>
            <a:endParaRPr lang="en-US" sz="1500" dirty="0"/>
          </a:p>
          <a:p>
            <a:pPr indent="0" marL="0">
              <a:lnSpc>
                <a:spcPct val="106000"/>
              </a:lnSpc>
              <a:buNone/>
            </a:pPr>
            <a:r>
              <a:rPr lang="en-US" sz="1250" dirty="0">
                <a:solidFill>
                  <a:srgbClr val="1F2430"/>
                </a:solidFill>
                <a:latin typeface="Segoe UI" pitchFamily="34" charset="0"/>
                <a:ea typeface="Segoe UI" pitchFamily="34" charset="-122"/>
                <a:cs typeface="Segoe UI" pitchFamily="34" charset="-120"/>
              </a:rPr>
              <a:t>TalkBack anti-jitter scroll locks, interception of synthetic double-taps, scene counts rendered as one text node so they aren't read as fragments — field fixes kept as documented contracts.</a:t>
            </a:r>
            <a:endParaRPr lang="en-US" sz="1500" dirty="0"/>
          </a:p>
        </p:txBody>
      </p:sp>
      <p:sp>
        <p:nvSpPr>
          <p:cNvPr id="14" name="Shape 12"/>
          <p:cNvSpPr/>
          <p:nvPr/>
        </p:nvSpPr>
        <p:spPr>
          <a:xfrm>
            <a:off x="8119872" y="3950208"/>
            <a:ext cx="3419856" cy="1965960"/>
          </a:xfrm>
          <a:prstGeom prst="roundRect">
            <a:avLst>
              <a:gd name="adj" fmla="val 3721"/>
            </a:avLst>
          </a:prstGeom>
          <a:solidFill>
            <a:srgbClr val="F4F1FA"/>
          </a:solidFill>
          <a:ln w="12700">
            <a:solidFill>
              <a:srgbClr val="D8CFEC"/>
            </a:solidFill>
            <a:prstDash val="solid"/>
          </a:ln>
        </p:spPr>
      </p:sp>
      <p:sp>
        <p:nvSpPr>
          <p:cNvPr id="15" name="Text 13"/>
          <p:cNvSpPr/>
          <p:nvPr/>
        </p:nvSpPr>
        <p:spPr>
          <a:xfrm>
            <a:off x="8284464" y="4069080"/>
            <a:ext cx="3090672" cy="1755648"/>
          </a:xfrm>
          <a:prstGeom prst="rect">
            <a:avLst/>
          </a:prstGeom>
          <a:noFill/>
          <a:ln/>
        </p:spPr>
        <p:txBody>
          <a:bodyPr wrap="square" rtlCol="0" anchor="t"/>
          <a:lstStyle/>
          <a:p>
            <a:pPr indent="0" marL="0">
              <a:lnSpc>
                <a:spcPct val="106000"/>
              </a:lnSpc>
              <a:spcAft>
                <a:spcPts val="400"/>
              </a:spcAft>
              <a:buNone/>
            </a:pPr>
            <a:r>
              <a:rPr lang="en-US" sz="1500" b="1" dirty="0">
                <a:solidFill>
                  <a:srgbClr val="4C1D95"/>
                </a:solidFill>
                <a:latin typeface="Segoe UI" pitchFamily="34" charset="0"/>
                <a:ea typeface="Segoe UI" pitchFamily="34" charset="-122"/>
                <a:cs typeface="Segoe UI" pitchFamily="34" charset="-120"/>
              </a:rPr>
              <a:t>And the baseline</a:t>
            </a:r>
            <a:endParaRPr lang="en-US" sz="1500" dirty="0"/>
          </a:p>
          <a:p>
            <a:pPr indent="0" marL="0">
              <a:lnSpc>
                <a:spcPct val="106000"/>
              </a:lnSpc>
              <a:buNone/>
            </a:pPr>
            <a:r>
              <a:rPr lang="en-US" sz="1250" dirty="0">
                <a:solidFill>
                  <a:srgbClr val="1F2430"/>
                </a:solidFill>
                <a:latin typeface="Segoe UI" pitchFamily="34" charset="0"/>
                <a:ea typeface="Segoe UI" pitchFamily="34" charset="-122"/>
                <a:cs typeface="Segoe UI" pitchFamily="34" charset="-120"/>
              </a:rPr>
              <a:t>44–48 px targets, visible focus outlines, skip links, prefers-reduced-motion honoured, keyboard everywhere (timeline as listbox, trim handles as sliders), hardware Back collapses the scene.</a:t>
            </a:r>
            <a:endParaRPr lang="en-US" sz="1500" dirty="0"/>
          </a:p>
        </p:txBody>
      </p:sp>
      <p:sp>
        <p:nvSpPr>
          <p:cNvPr id="16" name="Text 14"/>
          <p:cNvSpPr/>
          <p:nvPr/>
        </p:nvSpPr>
        <p:spPr>
          <a:xfrm>
            <a:off x="640080" y="6053328"/>
            <a:ext cx="10972800" cy="411480"/>
          </a:xfrm>
          <a:prstGeom prst="rect">
            <a:avLst/>
          </a:prstGeom>
          <a:noFill/>
          <a:ln/>
        </p:spPr>
        <p:txBody>
          <a:bodyPr wrap="square" rtlCol="0" anchor="ctr"/>
          <a:lstStyle/>
          <a:p>
            <a:pPr indent="0" marL="0">
              <a:buNone/>
            </a:pPr>
            <a:r>
              <a:rPr lang="en-US" sz="1450" i="1" dirty="0">
                <a:solidFill>
                  <a:srgbClr val="0F766E"/>
                </a:solidFill>
                <a:latin typeface="Segoe UI" pitchFamily="34" charset="0"/>
                <a:ea typeface="Segoe UI" pitchFamily="34" charset="-122"/>
                <a:cs typeface="Segoe UI" pitchFamily="34" charset="-120"/>
              </a:rPr>
              <a:t>The end-to-end tests drive the app through its accessible names — the accessibility tree is the test contract.</a:t>
            </a:r>
            <a:endParaRPr lang="en-US" sz="145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UNDER THE HOOD</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From phone camera to finished MP4</a:t>
            </a:r>
            <a:endParaRPr lang="en-US" sz="3000" dirty="0"/>
          </a:p>
        </p:txBody>
      </p:sp>
      <p:sp>
        <p:nvSpPr>
          <p:cNvPr id="4" name="Shape 2"/>
          <p:cNvSpPr/>
          <p:nvPr/>
        </p:nvSpPr>
        <p:spPr>
          <a:xfrm>
            <a:off x="731520" y="1572768"/>
            <a:ext cx="420624" cy="420624"/>
          </a:xfrm>
          <a:prstGeom prst="ellipse">
            <a:avLst/>
          </a:prstGeom>
          <a:solidFill>
            <a:srgbClr val="0F766E"/>
          </a:solidFill>
          <a:ln/>
        </p:spPr>
      </p:sp>
      <p:sp>
        <p:nvSpPr>
          <p:cNvPr id="5" name="Text 3"/>
          <p:cNvSpPr/>
          <p:nvPr/>
        </p:nvSpPr>
        <p:spPr>
          <a:xfrm>
            <a:off x="731520" y="1572768"/>
            <a:ext cx="420624" cy="420624"/>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6" name="Text 4"/>
          <p:cNvSpPr/>
          <p:nvPr/>
        </p:nvSpPr>
        <p:spPr>
          <a:xfrm>
            <a:off x="1325880" y="1554480"/>
            <a:ext cx="6400800" cy="914400"/>
          </a:xfrm>
          <a:prstGeom prst="rect">
            <a:avLst/>
          </a:prstGeom>
          <a:noFill/>
          <a:ln/>
        </p:spPr>
        <p:txBody>
          <a:bodyPr wrap="square" rtlCol="0" anchor="t"/>
          <a:lstStyle/>
          <a:p>
            <a:pPr indent="0" marL="0">
              <a:lnSpc>
                <a:spcPct val="106000"/>
              </a:lnSpc>
              <a:buNone/>
            </a:pPr>
            <a:r>
              <a:rPr lang="en-US" sz="1450" b="1" dirty="0">
                <a:solidFill>
                  <a:srgbClr val="4C1D95"/>
                </a:solidFill>
                <a:latin typeface="Segoe UI" pitchFamily="34" charset="0"/>
                <a:ea typeface="Segoe UI" pitchFamily="34" charset="-122"/>
                <a:cs typeface="Segoe UI" pitchFamily="34" charset="-120"/>
              </a:rPr>
              <a:t>Upload — </a:t>
            </a:r>
            <a:pPr indent="0" marL="0">
              <a:lnSpc>
                <a:spcPct val="106000"/>
              </a:lnSpc>
              <a:buNone/>
            </a:pPr>
            <a:r>
              <a:rPr lang="en-US" sz="1350" dirty="0">
                <a:solidFill>
                  <a:srgbClr val="1F2430"/>
                </a:solidFill>
                <a:latin typeface="Segoe UI" pitchFamily="34" charset="0"/>
                <a:ea typeface="Segoe UI" pitchFamily="34" charset="-122"/>
                <a:cs typeface="Segoe UI" pitchFamily="34" charset="-120"/>
              </a:rPr>
              <a:t>TUS resumable upload from the phone into a private Storage bucket (path is pinned to the project by a DB constraint).</a:t>
            </a:r>
            <a:endParaRPr lang="en-US" sz="1450" dirty="0"/>
          </a:p>
        </p:txBody>
      </p:sp>
      <p:sp>
        <p:nvSpPr>
          <p:cNvPr id="7" name="Shape 5"/>
          <p:cNvSpPr/>
          <p:nvPr/>
        </p:nvSpPr>
        <p:spPr>
          <a:xfrm>
            <a:off x="731520" y="2505456"/>
            <a:ext cx="420624" cy="420624"/>
          </a:xfrm>
          <a:prstGeom prst="ellipse">
            <a:avLst/>
          </a:prstGeom>
          <a:solidFill>
            <a:srgbClr val="0F766E"/>
          </a:solidFill>
          <a:ln/>
        </p:spPr>
      </p:sp>
      <p:sp>
        <p:nvSpPr>
          <p:cNvPr id="8" name="Text 6"/>
          <p:cNvSpPr/>
          <p:nvPr/>
        </p:nvSpPr>
        <p:spPr>
          <a:xfrm>
            <a:off x="731520" y="2505456"/>
            <a:ext cx="420624" cy="420624"/>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9" name="Text 7"/>
          <p:cNvSpPr/>
          <p:nvPr/>
        </p:nvSpPr>
        <p:spPr>
          <a:xfrm>
            <a:off x="1325880" y="2487168"/>
            <a:ext cx="6400800" cy="914400"/>
          </a:xfrm>
          <a:prstGeom prst="rect">
            <a:avLst/>
          </a:prstGeom>
          <a:noFill/>
          <a:ln/>
        </p:spPr>
        <p:txBody>
          <a:bodyPr wrap="square" rtlCol="0" anchor="t"/>
          <a:lstStyle/>
          <a:p>
            <a:pPr indent="0" marL="0">
              <a:lnSpc>
                <a:spcPct val="106000"/>
              </a:lnSpc>
              <a:buNone/>
            </a:pPr>
            <a:r>
              <a:rPr lang="en-US" sz="1450" b="1" dirty="0">
                <a:solidFill>
                  <a:srgbClr val="4C1D95"/>
                </a:solidFill>
                <a:latin typeface="Segoe UI" pitchFamily="34" charset="0"/>
                <a:ea typeface="Segoe UI" pitchFamily="34" charset="-122"/>
                <a:cs typeface="Segoe UI" pitchFamily="34" charset="-120"/>
              </a:rPr>
              <a:t>Segment — </a:t>
            </a:r>
            <a:pPr indent="0" marL="0">
              <a:lnSpc>
                <a:spcPct val="106000"/>
              </a:lnSpc>
              <a:buNone/>
            </a:pPr>
            <a:r>
              <a:rPr lang="en-US" sz="1350" dirty="0">
                <a:solidFill>
                  <a:srgbClr val="1F2430"/>
                </a:solidFill>
                <a:latin typeface="Segoe UI" pitchFamily="34" charset="0"/>
                <a:ea typeface="Segoe UI" pitchFamily="34" charset="-122"/>
                <a:cs typeface="Segoe UI" pitchFamily="34" charset="-120"/>
              </a:rPr>
              <a:t>FFmpeg cuts fixed-interval ~5 s scenes (configurable, frame-accurate re-encode), extracts a midpoint keyframe, and builds a 480p model clip per scene.</a:t>
            </a:r>
            <a:endParaRPr lang="en-US" sz="1450" dirty="0"/>
          </a:p>
        </p:txBody>
      </p:sp>
      <p:sp>
        <p:nvSpPr>
          <p:cNvPr id="10" name="Shape 8"/>
          <p:cNvSpPr/>
          <p:nvPr/>
        </p:nvSpPr>
        <p:spPr>
          <a:xfrm>
            <a:off x="731520" y="3438144"/>
            <a:ext cx="420624" cy="420624"/>
          </a:xfrm>
          <a:prstGeom prst="ellipse">
            <a:avLst/>
          </a:prstGeom>
          <a:solidFill>
            <a:srgbClr val="0F766E"/>
          </a:solidFill>
          <a:ln/>
        </p:spPr>
      </p:sp>
      <p:sp>
        <p:nvSpPr>
          <p:cNvPr id="11" name="Text 9"/>
          <p:cNvSpPr/>
          <p:nvPr/>
        </p:nvSpPr>
        <p:spPr>
          <a:xfrm>
            <a:off x="731520" y="3438144"/>
            <a:ext cx="420624" cy="420624"/>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12" name="Text 10"/>
          <p:cNvSpPr/>
          <p:nvPr/>
        </p:nvSpPr>
        <p:spPr>
          <a:xfrm>
            <a:off x="1325880" y="3419856"/>
            <a:ext cx="6400800" cy="914400"/>
          </a:xfrm>
          <a:prstGeom prst="rect">
            <a:avLst/>
          </a:prstGeom>
          <a:noFill/>
          <a:ln/>
        </p:spPr>
        <p:txBody>
          <a:bodyPr wrap="square" rtlCol="0" anchor="t"/>
          <a:lstStyle/>
          <a:p>
            <a:pPr indent="0" marL="0">
              <a:lnSpc>
                <a:spcPct val="106000"/>
              </a:lnSpc>
              <a:buNone/>
            </a:pPr>
            <a:r>
              <a:rPr lang="en-US" sz="1450" b="1" dirty="0">
                <a:solidFill>
                  <a:srgbClr val="4C1D95"/>
                </a:solidFill>
                <a:latin typeface="Segoe UI" pitchFamily="34" charset="0"/>
                <a:ea typeface="Segoe UI" pitchFamily="34" charset="-122"/>
                <a:cs typeface="Segoe UI" pitchFamily="34" charset="-120"/>
              </a:rPr>
              <a:t>Describe — </a:t>
            </a:r>
            <a:pPr indent="0" marL="0">
              <a:lnSpc>
                <a:spcPct val="106000"/>
              </a:lnSpc>
              <a:buNone/>
            </a:pPr>
            <a:r>
              <a:rPr lang="en-US" sz="1350" dirty="0">
                <a:solidFill>
                  <a:srgbClr val="1F2430"/>
                </a:solidFill>
                <a:latin typeface="Segoe UI" pitchFamily="34" charset="0"/>
                <a:ea typeface="Segoe UI" pitchFamily="34" charset="-122"/>
                <a:cs typeface="Segoe UI" pitchFamily="34" charset="-120"/>
              </a:rPr>
              <a:t>Gemini 2.5 Flash writes all three description levels per scene; results are stored with model provenance. Status transitions are announced to the creator.</a:t>
            </a:r>
            <a:endParaRPr lang="en-US" sz="1450" dirty="0"/>
          </a:p>
        </p:txBody>
      </p:sp>
      <p:sp>
        <p:nvSpPr>
          <p:cNvPr id="13" name="Shape 11"/>
          <p:cNvSpPr/>
          <p:nvPr/>
        </p:nvSpPr>
        <p:spPr>
          <a:xfrm>
            <a:off x="731520" y="4370832"/>
            <a:ext cx="420624" cy="420624"/>
          </a:xfrm>
          <a:prstGeom prst="ellipse">
            <a:avLst/>
          </a:prstGeom>
          <a:solidFill>
            <a:srgbClr val="0F766E"/>
          </a:solidFill>
          <a:ln/>
        </p:spPr>
      </p:sp>
      <p:sp>
        <p:nvSpPr>
          <p:cNvPr id="14" name="Text 12"/>
          <p:cNvSpPr/>
          <p:nvPr/>
        </p:nvSpPr>
        <p:spPr>
          <a:xfrm>
            <a:off x="731520" y="4370832"/>
            <a:ext cx="420624" cy="420624"/>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15" name="Text 13"/>
          <p:cNvSpPr/>
          <p:nvPr/>
        </p:nvSpPr>
        <p:spPr>
          <a:xfrm>
            <a:off x="1325880" y="4352544"/>
            <a:ext cx="6400800" cy="914400"/>
          </a:xfrm>
          <a:prstGeom prst="rect">
            <a:avLst/>
          </a:prstGeom>
          <a:noFill/>
          <a:ln/>
        </p:spPr>
        <p:txBody>
          <a:bodyPr wrap="square" rtlCol="0" anchor="t"/>
          <a:lstStyle/>
          <a:p>
            <a:pPr indent="0" marL="0">
              <a:lnSpc>
                <a:spcPct val="106000"/>
              </a:lnSpc>
              <a:buNone/>
            </a:pPr>
            <a:r>
              <a:rPr lang="en-US" sz="1450" b="1" dirty="0">
                <a:solidFill>
                  <a:srgbClr val="4C1D95"/>
                </a:solidFill>
                <a:latin typeface="Segoe UI" pitchFamily="34" charset="0"/>
                <a:ea typeface="Segoe UI" pitchFamily="34" charset="-122"/>
                <a:cs typeface="Segoe UI" pitchFamily="34" charset="-120"/>
              </a:rPr>
              <a:t>Edit — </a:t>
            </a:r>
            <a:pPr indent="0" marL="0">
              <a:lnSpc>
                <a:spcPct val="106000"/>
              </a:lnSpc>
              <a:buNone/>
            </a:pPr>
            <a:r>
              <a:rPr lang="en-US" sz="1350" dirty="0">
                <a:solidFill>
                  <a:srgbClr val="1F2430"/>
                </a:solidFill>
                <a:latin typeface="Segoe UI" pitchFamily="34" charset="0"/>
                <a:ea typeface="Segoe UI" pitchFamily="34" charset="-122"/>
                <a:cs typeface="Segoe UI" pitchFamily="34" charset="-120"/>
              </a:rPr>
              <a:t>The shared timeline (EDL) lives as versioned JSONB; all edits — manual, AI, helper — mutate it through the same store.</a:t>
            </a:r>
            <a:endParaRPr lang="en-US" sz="1450" dirty="0"/>
          </a:p>
        </p:txBody>
      </p:sp>
      <p:sp>
        <p:nvSpPr>
          <p:cNvPr id="16" name="Shape 14"/>
          <p:cNvSpPr/>
          <p:nvPr/>
        </p:nvSpPr>
        <p:spPr>
          <a:xfrm>
            <a:off x="731520" y="5303520"/>
            <a:ext cx="420624" cy="420624"/>
          </a:xfrm>
          <a:prstGeom prst="ellipse">
            <a:avLst/>
          </a:prstGeom>
          <a:solidFill>
            <a:srgbClr val="0F766E"/>
          </a:solidFill>
          <a:ln/>
        </p:spPr>
      </p:sp>
      <p:sp>
        <p:nvSpPr>
          <p:cNvPr id="17" name="Text 15"/>
          <p:cNvSpPr/>
          <p:nvPr/>
        </p:nvSpPr>
        <p:spPr>
          <a:xfrm>
            <a:off x="731520" y="5303520"/>
            <a:ext cx="420624" cy="420624"/>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5</a:t>
            </a:r>
            <a:endParaRPr lang="en-US" sz="1500" dirty="0"/>
          </a:p>
        </p:txBody>
      </p:sp>
      <p:sp>
        <p:nvSpPr>
          <p:cNvPr id="18" name="Text 16"/>
          <p:cNvSpPr/>
          <p:nvPr/>
        </p:nvSpPr>
        <p:spPr>
          <a:xfrm>
            <a:off x="1325880" y="5285232"/>
            <a:ext cx="6400800" cy="914400"/>
          </a:xfrm>
          <a:prstGeom prst="rect">
            <a:avLst/>
          </a:prstGeom>
          <a:noFill/>
          <a:ln/>
        </p:spPr>
        <p:txBody>
          <a:bodyPr wrap="square" rtlCol="0" anchor="t"/>
          <a:lstStyle/>
          <a:p>
            <a:pPr indent="0" marL="0">
              <a:lnSpc>
                <a:spcPct val="106000"/>
              </a:lnSpc>
              <a:buNone/>
            </a:pPr>
            <a:r>
              <a:rPr lang="en-US" sz="1450" b="1" dirty="0">
                <a:solidFill>
                  <a:srgbClr val="4C1D95"/>
                </a:solidFill>
                <a:latin typeface="Segoe UI" pitchFamily="34" charset="0"/>
                <a:ea typeface="Segoe UI" pitchFamily="34" charset="-122"/>
                <a:cs typeface="Segoe UI" pitchFamily="34" charset="-120"/>
              </a:rPr>
              <a:t>Export — </a:t>
            </a:r>
            <a:pPr indent="0" marL="0">
              <a:lnSpc>
                <a:spcPct val="106000"/>
              </a:lnSpc>
              <a:buNone/>
            </a:pPr>
            <a:r>
              <a:rPr lang="en-US" sz="1350" dirty="0">
                <a:solidFill>
                  <a:srgbClr val="1F2430"/>
                </a:solidFill>
                <a:latin typeface="Segoe UI" pitchFamily="34" charset="0"/>
                <a:ea typeface="Segoe UI" pitchFamily="34" charset="-122"/>
                <a:cs typeface="Segoe UI" pitchFamily="34" charset="-120"/>
              </a:rPr>
              <a:t>Each clip is normalised to 1280×720@30 H.264/AAC with its colour grade baked in, then stream-copy concatenated and served by signed URL.</a:t>
            </a:r>
            <a:endParaRPr lang="en-US" sz="1450" dirty="0"/>
          </a:p>
        </p:txBody>
      </p:sp>
      <p:sp>
        <p:nvSpPr>
          <p:cNvPr id="19" name="Shape 17"/>
          <p:cNvSpPr/>
          <p:nvPr/>
        </p:nvSpPr>
        <p:spPr>
          <a:xfrm>
            <a:off x="8092440" y="1554480"/>
            <a:ext cx="3474720" cy="4572000"/>
          </a:xfrm>
          <a:prstGeom prst="roundRect">
            <a:avLst>
              <a:gd name="adj" fmla="val 2368"/>
            </a:avLst>
          </a:prstGeom>
          <a:solidFill>
            <a:srgbClr val="F4F1FA"/>
          </a:solidFill>
          <a:ln w="12700">
            <a:solidFill>
              <a:srgbClr val="D8CFEC"/>
            </a:solidFill>
            <a:prstDash val="solid"/>
          </a:ln>
        </p:spPr>
      </p:sp>
      <p:sp>
        <p:nvSpPr>
          <p:cNvPr id="20" name="Text 18"/>
          <p:cNvSpPr/>
          <p:nvPr/>
        </p:nvSpPr>
        <p:spPr>
          <a:xfrm>
            <a:off x="8275320" y="1719072"/>
            <a:ext cx="3108960" cy="4297680"/>
          </a:xfrm>
          <a:prstGeom prst="rect">
            <a:avLst/>
          </a:prstGeom>
          <a:noFill/>
          <a:ln/>
        </p:spPr>
        <p:txBody>
          <a:bodyPr wrap="square" rtlCol="0" anchor="t"/>
          <a:lstStyle/>
          <a:p>
            <a:pPr indent="0" marL="0">
              <a:lnSpc>
                <a:spcPct val="110000"/>
              </a:lnSpc>
              <a:spcAft>
                <a:spcPts val="800"/>
              </a:spcAft>
              <a:buNone/>
            </a:pPr>
            <a:r>
              <a:rPr lang="en-US" sz="1550" b="1" dirty="0">
                <a:solidFill>
                  <a:srgbClr val="4C1D95"/>
                </a:solidFill>
                <a:latin typeface="Segoe UI" pitchFamily="34" charset="0"/>
                <a:ea typeface="Segoe UI" pitchFamily="34" charset="-122"/>
                <a:cs typeface="Segoe UI" pitchFamily="34" charset="-120"/>
              </a:rPr>
              <a:t>Hardened in production</a:t>
            </a:r>
            <a:endParaRPr lang="en-US" sz="1550" dirty="0"/>
          </a:p>
          <a:p>
            <a:pPr marL="152400" indent="-152400">
              <a:lnSpc>
                <a:spcPct val="110000"/>
              </a:lnSpc>
              <a:spcAft>
                <a:spcPts val="800"/>
              </a:spcAft>
              <a:buSzPct val="100000"/>
              <a:buChar char="•"/>
            </a:pPr>
            <a:r>
              <a:rPr lang="en-US" sz="1300" dirty="0">
                <a:solidFill>
                  <a:srgbClr val="1F2430"/>
                </a:solidFill>
                <a:latin typeface="Segoe UI" pitchFamily="34" charset="0"/>
                <a:ea typeface="Segoe UI" pitchFamily="34" charset="-122"/>
                <a:cs typeface="Segoe UI" pitchFamily="34" charset="-120"/>
              </a:rPr>
              <a:t>x264 thread pool clamped — Railway's many-core hosts spawned ~60 encoder threads and OOM-killed HD encodes.</a:t>
            </a:r>
            <a:endParaRPr lang="en-US" sz="1550" dirty="0"/>
          </a:p>
          <a:p>
            <a:pPr marL="152400" indent="-152400">
              <a:lnSpc>
                <a:spcPct val="110000"/>
              </a:lnSpc>
              <a:spcAft>
                <a:spcPts val="800"/>
              </a:spcAft>
              <a:buSzPct val="100000"/>
              <a:buChar char="•"/>
            </a:pPr>
            <a:r>
              <a:rPr lang="en-US" sz="1300" dirty="0">
                <a:solidFill>
                  <a:srgbClr val="1F2430"/>
                </a:solidFill>
                <a:latin typeface="Segoe UI" pitchFamily="34" charset="0"/>
                <a:ea typeface="Segoe UI" pitchFamily="34" charset="-122"/>
                <a:cs typeface="Segoe UI" pitchFamily="34" charset="-120"/>
              </a:rPr>
              <a:t>600 s SIGKILL timeout; error text distinguishes our kill vs container OOM vs platform redeploy.</a:t>
            </a:r>
            <a:endParaRPr lang="en-US" sz="1550" dirty="0"/>
          </a:p>
          <a:p>
            <a:pPr marL="152400" indent="-152400">
              <a:lnSpc>
                <a:spcPct val="110000"/>
              </a:lnSpc>
              <a:spcAft>
                <a:spcPts val="800"/>
              </a:spcAft>
              <a:buSzPct val="100000"/>
              <a:buChar char="•"/>
            </a:pPr>
            <a:r>
              <a:rPr lang="en-US" sz="1300" dirty="0">
                <a:solidFill>
                  <a:srgbClr val="1F2430"/>
                </a:solidFill>
                <a:latin typeface="Segoe UI" pitchFamily="34" charset="0"/>
                <a:ea typeface="Segoe UI" pitchFamily="34" charset="-122"/>
                <a:cs typeface="Segoe UI" pitchFamily="34" charset="-120"/>
              </a:rPr>
              <a:t>Boot-time sweep marks jobs interrupted by a redeploy as failed, so retries are never wedged.</a:t>
            </a:r>
            <a:endParaRPr lang="en-US" sz="1550" dirty="0"/>
          </a:p>
          <a:p>
            <a:pPr marL="152400" indent="-152400">
              <a:lnSpc>
                <a:spcPct val="110000"/>
              </a:lnSpc>
              <a:buSzPct val="100000"/>
              <a:buChar char="•"/>
            </a:pPr>
            <a:r>
              <a:rPr lang="en-US" sz="1300" dirty="0">
                <a:solidFill>
                  <a:srgbClr val="1F2430"/>
                </a:solidFill>
                <a:latin typeface="Segoe UI" pitchFamily="34" charset="0"/>
                <a:ea typeface="Segoe UI" pitchFamily="34" charset="-122"/>
                <a:cs typeface="Segoe UI" pitchFamily="34" charset="-120"/>
              </a:rPr>
              <a:t>Model clips sized for Gemini's inline cap, with automatic keyframe fallback — description quality can degrade, never disappear.</a:t>
            </a:r>
            <a:endParaRPr lang="en-US" sz="155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TRUST BOUNDARIES</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Locked down by default</a:t>
            </a:r>
            <a:endParaRPr lang="en-US" sz="3000" dirty="0"/>
          </a:p>
        </p:txBody>
      </p:sp>
      <p:pic>
        <p:nvPicPr>
          <p:cNvPr id="4" name="Image 0" descr="Sign-in page. Small caps heading Video Collab, title Sign in, subtitle Welcome back. Sign in to reach your projects. An Email address field, a Password field, a teal Sign in button, and a link reading First time here? Create your password.">    </p:cNvPr>
          <p:cNvPicPr>
            <a:picLocks noChangeAspect="1"/>
          </p:cNvPicPr>
          <p:nvPr/>
        </p:nvPicPr>
        <p:blipFill>
          <a:blip r:embed="rId1"/>
          <a:stretch>
            <a:fillRect/>
          </a:stretch>
        </p:blipFill>
        <p:spPr>
          <a:xfrm>
            <a:off x="731520" y="1691640"/>
            <a:ext cx="3901440" cy="3291840"/>
          </a:xfrm>
          <a:prstGeom prst="rect">
            <a:avLst/>
          </a:prstGeom>
        </p:spPr>
      </p:pic>
      <p:sp>
        <p:nvSpPr>
          <p:cNvPr id="5" name="Shape 2"/>
          <p:cNvSpPr/>
          <p:nvPr/>
        </p:nvSpPr>
        <p:spPr>
          <a:xfrm>
            <a:off x="704088" y="1664208"/>
            <a:ext cx="3956304" cy="3346704"/>
          </a:xfrm>
          <a:prstGeom prst="roundRect">
            <a:avLst>
              <a:gd name="adj" fmla="val 1639"/>
            </a:avLst>
          </a:prstGeom>
          <a:ln w="22225">
            <a:solidFill>
              <a:srgbClr val="D8CFEC"/>
            </a:solidFill>
            <a:prstDash val="solid"/>
          </a:ln>
        </p:spPr>
      </p:sp>
      <p:sp>
        <p:nvSpPr>
          <p:cNvPr id="6" name="Text 3"/>
          <p:cNvSpPr/>
          <p:nvPr/>
        </p:nvSpPr>
        <p:spPr>
          <a:xfrm>
            <a:off x="502920" y="5056632"/>
            <a:ext cx="4358640" cy="502920"/>
          </a:xfrm>
          <a:prstGeom prst="rect">
            <a:avLst/>
          </a:prstGeom>
          <a:noFill/>
          <a:ln/>
        </p:spPr>
        <p:txBody>
          <a:bodyPr wrap="square" rtlCol="0" anchor="t"/>
          <a:lstStyle/>
          <a:p>
            <a:pPr algn="ctr" indent="0" marL="0">
              <a:buNone/>
            </a:pPr>
            <a:r>
              <a:rPr lang="en-US" sz="1250" dirty="0">
                <a:solidFill>
                  <a:srgbClr val="444B5A"/>
                </a:solidFill>
                <a:latin typeface="Segoe UI" pitchFamily="34" charset="0"/>
                <a:ea typeface="Segoe UI" pitchFamily="34" charset="-122"/>
                <a:cs typeface="Segoe UI" pitchFamily="34" charset="-120"/>
              </a:rPr>
              <a:t>Allowlist + password sign-in — magic links were dropped after real-world email delivery proved unreliable</a:t>
            </a:r>
            <a:endParaRPr lang="en-US" sz="1250" dirty="0"/>
          </a:p>
        </p:txBody>
      </p:sp>
      <p:sp>
        <p:nvSpPr>
          <p:cNvPr id="7" name="Text 4"/>
          <p:cNvSpPr/>
          <p:nvPr/>
        </p:nvSpPr>
        <p:spPr>
          <a:xfrm>
            <a:off x="5120640" y="1645920"/>
            <a:ext cx="6446520" cy="4754880"/>
          </a:xfrm>
          <a:prstGeom prst="rect">
            <a:avLst/>
          </a:prstGeom>
          <a:noFill/>
          <a:ln/>
        </p:spPr>
        <p:txBody>
          <a:bodyPr wrap="square" rtlCol="0" anchor="t"/>
          <a:lstStyle/>
          <a:p>
            <a:pPr marL="177800" indent="-177800">
              <a:lnSpc>
                <a:spcPct val="110000"/>
              </a:lnSpc>
              <a:spcAft>
                <a:spcPts val="1000"/>
              </a:spcAft>
              <a:buSzPct val="100000"/>
              <a:buChar char="•"/>
            </a:pPr>
            <a:r>
              <a:rPr lang="en-US" sz="1450" b="1" dirty="0">
                <a:solidFill>
                  <a:srgbClr val="4C1D95"/>
                </a:solidFill>
                <a:latin typeface="Segoe UI" pitchFamily="34" charset="0"/>
                <a:ea typeface="Segoe UI" pitchFamily="34" charset="-122"/>
                <a:cs typeface="Segoe UI" pitchFamily="34" charset="-120"/>
              </a:rPr>
              <a:t>Row-level security everywhere — </a:t>
            </a:r>
            <a:pPr indent="0" marL="0">
              <a:lnSpc>
                <a:spcPct val="110000"/>
              </a:lnSpc>
              <a:spcAft>
                <a:spcPts val="1000"/>
              </a:spcAft>
              <a:buNone/>
            </a:pPr>
            <a:r>
              <a:rPr lang="en-US" sz="1450" dirty="0">
                <a:solidFill>
                  <a:srgbClr val="1F2430"/>
                </a:solidFill>
                <a:latin typeface="Segoe UI" pitchFamily="34" charset="0"/>
                <a:ea typeface="Segoe UI" pitchFamily="34" charset="-122"/>
                <a:cs typeface="Segoe UI" pitchFamily="34" charset="-120"/>
              </a:rPr>
              <a:t>every table policy and even storage-object access resolve through one membership check; file paths embed the project id, so files ride the same gate as rows.</a:t>
            </a:r>
            <a:endParaRPr lang="en-US" sz="1450" dirty="0"/>
          </a:p>
          <a:p>
            <a:pPr marL="177800" indent="-177800">
              <a:lnSpc>
                <a:spcPct val="110000"/>
              </a:lnSpc>
              <a:spcAft>
                <a:spcPts val="1000"/>
              </a:spcAft>
              <a:buSzPct val="100000"/>
              <a:buChar char="•"/>
            </a:pPr>
            <a:r>
              <a:rPr lang="en-US" sz="1450" b="1" dirty="0">
                <a:solidFill>
                  <a:srgbClr val="4C1D95"/>
                </a:solidFill>
                <a:latin typeface="Segoe UI" pitchFamily="34" charset="0"/>
                <a:ea typeface="Segoe UI" pitchFamily="34" charset="-122"/>
                <a:cs typeface="Segoe UI" pitchFamily="34" charset="-120"/>
              </a:rPr>
              <a:t>Allowlist at the database — </a:t>
            </a:r>
            <a:pPr indent="0" marL="0">
              <a:lnSpc>
                <a:spcPct val="110000"/>
              </a:lnSpc>
              <a:spcAft>
                <a:spcPts val="1000"/>
              </a:spcAft>
              <a:buNone/>
            </a:pPr>
            <a:r>
              <a:rPr lang="en-US" sz="1450" dirty="0">
                <a:solidFill>
                  <a:srgbClr val="1F2430"/>
                </a:solidFill>
                <a:latin typeface="Segoe UI" pitchFamily="34" charset="0"/>
                <a:ea typeface="Segoe UI" pitchFamily="34" charset="-122"/>
                <a:cs typeface="Segoe UI" pitchFamily="34" charset="-120"/>
              </a:rPr>
              <a:t>a trigger on auth.users blocks account creation for unlisted emails, regardless of what any client does.</a:t>
            </a:r>
            <a:endParaRPr lang="en-US" sz="1450" dirty="0"/>
          </a:p>
          <a:p>
            <a:pPr marL="177800" indent="-177800">
              <a:lnSpc>
                <a:spcPct val="110000"/>
              </a:lnSpc>
              <a:spcAft>
                <a:spcPts val="1000"/>
              </a:spcAft>
              <a:buSzPct val="100000"/>
              <a:buChar char="•"/>
            </a:pPr>
            <a:r>
              <a:rPr lang="en-US" sz="1450" b="1" dirty="0">
                <a:solidFill>
                  <a:srgbClr val="4C1D95"/>
                </a:solidFill>
                <a:latin typeface="Segoe UI" pitchFamily="34" charset="0"/>
                <a:ea typeface="Segoe UI" pitchFamily="34" charset="-122"/>
                <a:cs typeface="Segoe UI" pitchFamily="34" charset="-120"/>
              </a:rPr>
              <a:t>4-digit join codes — </a:t>
            </a:r>
            <a:pPr indent="0" marL="0">
              <a:lnSpc>
                <a:spcPct val="110000"/>
              </a:lnSpc>
              <a:spcAft>
                <a:spcPts val="1000"/>
              </a:spcAft>
              <a:buNone/>
            </a:pPr>
            <a:r>
              <a:rPr lang="en-US" sz="1450" dirty="0">
                <a:solidFill>
                  <a:srgbClr val="1F2430"/>
                </a:solidFill>
                <a:latin typeface="Segoe UI" pitchFamily="34" charset="0"/>
                <a:ea typeface="Segoe UI" pitchFamily="34" charset="-122"/>
                <a:cs typeface="Segoe UI" pitchFamily="34" charset="-120"/>
              </a:rPr>
              <a:t>helpers join by speaking a code across the room: single-use, 15-minute expiry, rate-limited (5 failures → lockout).</a:t>
            </a:r>
            <a:endParaRPr lang="en-US" sz="1450" dirty="0"/>
          </a:p>
          <a:p>
            <a:pPr marL="177800" indent="-177800">
              <a:lnSpc>
                <a:spcPct val="110000"/>
              </a:lnSpc>
              <a:spcAft>
                <a:spcPts val="1000"/>
              </a:spcAft>
              <a:buSzPct val="100000"/>
              <a:buChar char="•"/>
            </a:pPr>
            <a:r>
              <a:rPr lang="en-US" sz="1450" b="1" dirty="0">
                <a:solidFill>
                  <a:srgbClr val="4C1D95"/>
                </a:solidFill>
                <a:latin typeface="Segoe UI" pitchFamily="34" charset="0"/>
                <a:ea typeface="Segoe UI" pitchFamily="34" charset="-122"/>
                <a:cs typeface="Segoe UI" pitchFamily="34" charset="-120"/>
              </a:rPr>
              <a:t>Server-only writes for AI output — </a:t>
            </a:r>
            <a:pPr indent="0" marL="0">
              <a:lnSpc>
                <a:spcPct val="110000"/>
              </a:lnSpc>
              <a:spcAft>
                <a:spcPts val="1000"/>
              </a:spcAft>
              <a:buNone/>
            </a:pPr>
            <a:r>
              <a:rPr lang="en-US" sz="1450" dirty="0">
                <a:solidFill>
                  <a:srgbClr val="1F2430"/>
                </a:solidFill>
                <a:latin typeface="Segoe UI" pitchFamily="34" charset="0"/>
                <a:ea typeface="Segoe UI" pitchFamily="34" charset="-122"/>
                <a:cs typeface="Segoe UI" pitchFamily="34" charset="-120"/>
              </a:rPr>
              <a:t>suggestions have no client INSERT policy; members can update only the resolution columns.</a:t>
            </a:r>
            <a:endParaRPr lang="en-US" sz="1450" dirty="0"/>
          </a:p>
          <a:p>
            <a:pPr marL="177800" indent="-177800">
              <a:lnSpc>
                <a:spcPct val="110000"/>
              </a:lnSpc>
              <a:spcAft>
                <a:spcPts val="1000"/>
              </a:spcAft>
              <a:buSzPct val="100000"/>
              <a:buChar char="•"/>
            </a:pPr>
            <a:r>
              <a:rPr lang="en-US" sz="1450" b="1" dirty="0">
                <a:solidFill>
                  <a:srgbClr val="4C1D95"/>
                </a:solidFill>
                <a:latin typeface="Segoe UI" pitchFamily="34" charset="0"/>
                <a:ea typeface="Segoe UI" pitchFamily="34" charset="-122"/>
                <a:cs typeface="Segoe UI" pitchFamily="34" charset="-120"/>
              </a:rPr>
              <a:t>Render input treated as hostile — </a:t>
            </a:r>
            <a:pPr indent="0" marL="0">
              <a:lnSpc>
                <a:spcPct val="110000"/>
              </a:lnSpc>
              <a:spcAft>
                <a:spcPts val="1000"/>
              </a:spcAft>
              <a:buNone/>
            </a:pPr>
            <a:r>
              <a:rPr lang="en-US" sz="1450" dirty="0">
                <a:solidFill>
                  <a:srgbClr val="1F2430"/>
                </a:solidFill>
                <a:latin typeface="Segoe UI" pitchFamily="34" charset="0"/>
                <a:ea typeface="Segoe UI" pitchFamily="34" charset="-122"/>
                <a:cs typeface="Segoe UI" pitchFamily="34" charset="-120"/>
              </a:rPr>
              <a:t>member-writable timeline JSON is coerced and range-clamped at two independent layers before reaching FFmpeg — closing a filtergraph-injection hole caught in adversarial review.</a:t>
            </a:r>
            <a:endParaRPr lang="en-US" sz="145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292608"/>
            <a:ext cx="10881360" cy="365760"/>
          </a:xfrm>
          <a:prstGeom prst="rect">
            <a:avLst/>
          </a:prstGeom>
          <a:noFill/>
          <a:ln/>
        </p:spPr>
        <p:txBody>
          <a:bodyPr wrap="square" rtlCol="0" anchor="ctr"/>
          <a:lstStyle/>
          <a:p>
            <a:pPr algn="l" indent="0" marL="0">
              <a:buNone/>
            </a:pPr>
            <a:r>
              <a:rPr lang="en-US" sz="1300" b="1" spc="200" kern="0" dirty="0">
                <a:solidFill>
                  <a:srgbClr val="0F766E"/>
                </a:solidFill>
                <a:latin typeface="Segoe UI" pitchFamily="34" charset="0"/>
                <a:ea typeface="Segoe UI" pitchFamily="34" charset="-122"/>
                <a:cs typeface="Segoe UI" pitchFamily="34" charset="-120"/>
              </a:rPr>
              <a:t>HOW IT'S BUILT</a:t>
            </a:r>
            <a:endParaRPr lang="en-US" sz="1300" dirty="0"/>
          </a:p>
        </p:txBody>
      </p:sp>
      <p:sp>
        <p:nvSpPr>
          <p:cNvPr id="3" name="Text 1"/>
          <p:cNvSpPr/>
          <p:nvPr/>
        </p:nvSpPr>
        <p:spPr>
          <a:xfrm>
            <a:off x="640080" y="658368"/>
            <a:ext cx="10972800" cy="777240"/>
          </a:xfrm>
          <a:prstGeom prst="rect">
            <a:avLst/>
          </a:prstGeom>
          <a:noFill/>
          <a:ln/>
        </p:spPr>
        <p:txBody>
          <a:bodyPr wrap="square" rtlCol="0" anchor="ctr"/>
          <a:lstStyle/>
          <a:p>
            <a:pPr algn="l" indent="0" marL="0">
              <a:buNone/>
            </a:pPr>
            <a:r>
              <a:rPr lang="en-US" sz="3000" b="1" dirty="0">
                <a:solidFill>
                  <a:srgbClr val="4C1D95"/>
                </a:solidFill>
                <a:latin typeface="Segoe UI" pitchFamily="34" charset="0"/>
                <a:ea typeface="Segoe UI" pitchFamily="34" charset="-122"/>
                <a:cs typeface="Segoe UI" pitchFamily="34" charset="-120"/>
              </a:rPr>
              <a:t>Tested against the real stack</a:t>
            </a:r>
            <a:endParaRPr lang="en-US" sz="3000" dirty="0"/>
          </a:p>
        </p:txBody>
      </p:sp>
      <p:sp>
        <p:nvSpPr>
          <p:cNvPr id="4" name="Text 2"/>
          <p:cNvSpPr/>
          <p:nvPr/>
        </p:nvSpPr>
        <p:spPr>
          <a:xfrm>
            <a:off x="640080" y="1828800"/>
            <a:ext cx="10835640" cy="4480560"/>
          </a:xfrm>
          <a:prstGeom prst="rect">
            <a:avLst/>
          </a:prstGeom>
          <a:noFill/>
          <a:ln/>
        </p:spPr>
        <p:txBody>
          <a:bodyPr wrap="square" rtlCol="0" anchor="t"/>
          <a:lstStyle/>
          <a:p>
            <a:pPr marL="177800" indent="-177800">
              <a:lnSpc>
                <a:spcPct val="118000"/>
              </a:lnSpc>
              <a:spcAft>
                <a:spcPts val="1600"/>
              </a:spcAft>
              <a:buSzPct val="100000"/>
              <a:buChar char="•"/>
            </a:pPr>
            <a:r>
              <a:rPr lang="en-US" sz="1500" b="1" dirty="0">
                <a:solidFill>
                  <a:srgbClr val="4C1D95"/>
                </a:solidFill>
                <a:latin typeface="Segoe UI" pitchFamily="34" charset="0"/>
                <a:ea typeface="Segoe UI" pitchFamily="34" charset="-122"/>
                <a:cs typeface="Segoe UI" pitchFamily="34" charset="-120"/>
              </a:rPr>
              <a:t>Unit level — </a:t>
            </a:r>
            <a:pPr indent="0" marL="0">
              <a:lnSpc>
                <a:spcPct val="118000"/>
              </a:lnSpc>
              <a:spcAft>
                <a:spcPts val="1600"/>
              </a:spcAft>
              <a:buNone/>
            </a:pPr>
            <a:r>
              <a:rPr lang="en-US" sz="1500" dirty="0">
                <a:solidFill>
                  <a:srgbClr val="1F2430"/>
                </a:solidFill>
                <a:latin typeface="Segoe UI" pitchFamily="34" charset="0"/>
                <a:ea typeface="Segoe UI" pitchFamily="34" charset="-122"/>
                <a:cs typeface="Segoe UI" pitchFamily="34" charset="-120"/>
              </a:rPr>
              <a:t>server modules are dependency-injected and tested with Vitest + Supertest (FFmpeg and Gemini swap out as fakes); the web app carries 35+ colocated component tests with Testing Library.</a:t>
            </a:r>
            <a:endParaRPr lang="en-US" sz="1500" dirty="0"/>
          </a:p>
          <a:p>
            <a:pPr marL="177800" indent="-177800">
              <a:lnSpc>
                <a:spcPct val="118000"/>
              </a:lnSpc>
              <a:spcAft>
                <a:spcPts val="1600"/>
              </a:spcAft>
              <a:buSzPct val="100000"/>
              <a:buChar char="•"/>
            </a:pPr>
            <a:r>
              <a:rPr lang="en-US" sz="1500" b="1" dirty="0">
                <a:solidFill>
                  <a:srgbClr val="4C1D95"/>
                </a:solidFill>
                <a:latin typeface="Segoe UI" pitchFamily="34" charset="0"/>
                <a:ea typeface="Segoe UI" pitchFamily="34" charset="-122"/>
                <a:cs typeface="Segoe UI" pitchFamily="34" charset="-120"/>
              </a:rPr>
              <a:t>End-to-end — </a:t>
            </a:r>
            <a:pPr indent="0" marL="0">
              <a:lnSpc>
                <a:spcPct val="118000"/>
              </a:lnSpc>
              <a:spcAft>
                <a:spcPts val="1600"/>
              </a:spcAft>
              <a:buNone/>
            </a:pPr>
            <a:r>
              <a:rPr lang="en-US" sz="1500" dirty="0">
                <a:solidFill>
                  <a:srgbClr val="1F2430"/>
                </a:solidFill>
                <a:latin typeface="Segoe UI" pitchFamily="34" charset="0"/>
                <a:ea typeface="Segoe UI" pitchFamily="34" charset="-122"/>
                <a:cs typeface="Segoe UI" pitchFamily="34" charset="-120"/>
              </a:rPr>
              <a:t>a two-browser Playwright suite drives creator and helper simultaneously against live Supabase and live Gemini: AI analysis, routed suggestions, task round-trips, colour-grade sync, and a real FFmpeg export with a downloadable MP4.</a:t>
            </a:r>
            <a:endParaRPr lang="en-US" sz="1500" dirty="0"/>
          </a:p>
          <a:p>
            <a:pPr marL="177800" indent="-177800">
              <a:lnSpc>
                <a:spcPct val="118000"/>
              </a:lnSpc>
              <a:spcAft>
                <a:spcPts val="1600"/>
              </a:spcAft>
              <a:buSzPct val="100000"/>
              <a:buChar char="•"/>
            </a:pPr>
            <a:r>
              <a:rPr lang="en-US" sz="1500" b="1" dirty="0">
                <a:solidFill>
                  <a:srgbClr val="4C1D95"/>
                </a:solidFill>
                <a:latin typeface="Segoe UI" pitchFamily="34" charset="0"/>
                <a:ea typeface="Segoe UI" pitchFamily="34" charset="-122"/>
                <a:cs typeface="Segoe UI" pitchFamily="34" charset="-120"/>
              </a:rPr>
              <a:t>Exact assertions, tolerant waits — </a:t>
            </a:r>
            <a:pPr indent="0" marL="0">
              <a:lnSpc>
                <a:spcPct val="118000"/>
              </a:lnSpc>
              <a:spcAft>
                <a:spcPts val="1600"/>
              </a:spcAft>
              <a:buNone/>
            </a:pPr>
            <a:r>
              <a:rPr lang="en-US" sz="1500" dirty="0">
                <a:solidFill>
                  <a:srgbClr val="1F2430"/>
                </a:solidFill>
                <a:latin typeface="Segoe UI" pitchFamily="34" charset="0"/>
                <a:ea typeface="Segoe UI" pitchFamily="34" charset="-122"/>
                <a:cs typeface="Segoe UI" pitchFamily="34" charset="-120"/>
              </a:rPr>
              <a:t>counts and texts are asserted exactly; only timing allows up to 30 s for Realtime over the public internet.</a:t>
            </a:r>
            <a:endParaRPr lang="en-US" sz="1500" dirty="0"/>
          </a:p>
          <a:p>
            <a:pPr marL="177800" indent="-177800">
              <a:lnSpc>
                <a:spcPct val="118000"/>
              </a:lnSpc>
              <a:spcAft>
                <a:spcPts val="1600"/>
              </a:spcAft>
              <a:buSzPct val="100000"/>
              <a:buChar char="•"/>
            </a:pPr>
            <a:r>
              <a:rPr lang="en-US" sz="1500" b="1" dirty="0">
                <a:solidFill>
                  <a:srgbClr val="4C1D95"/>
                </a:solidFill>
                <a:latin typeface="Segoe UI" pitchFamily="34" charset="0"/>
                <a:ea typeface="Segoe UI" pitchFamily="34" charset="-122"/>
                <a:cs typeface="Segoe UI" pitchFamily="34" charset="-120"/>
              </a:rPr>
              <a:t>Quality gates before UI — </a:t>
            </a:r>
            <a:pPr indent="0" marL="0">
              <a:lnSpc>
                <a:spcPct val="118000"/>
              </a:lnSpc>
              <a:spcAft>
                <a:spcPts val="1600"/>
              </a:spcAft>
              <a:buNone/>
            </a:pPr>
            <a:r>
              <a:rPr lang="en-US" sz="1500" dirty="0">
                <a:solidFill>
                  <a:srgbClr val="1F2430"/>
                </a:solidFill>
                <a:latin typeface="Segoe UI" pitchFamily="34" charset="0"/>
                <a:ea typeface="Segoe UI" pitchFamily="34" charset="-122"/>
                <a:cs typeface="Segoe UI" pitchFamily="34" charset="-120"/>
              </a:rPr>
              <a:t>AI features shipped only after diagnostic runs on real participant footage were judged by the researcher (“unit mocks hide what only real data reveals”), plus live smoke scripts for auth, RLS policies, join codes and the upload → describe pipeline.</a:t>
            </a:r>
            <a:endParaRPr lang="en-US" sz="1500" dirty="0"/>
          </a:p>
          <a:p>
            <a:pPr marL="177800" indent="-177800">
              <a:lnSpc>
                <a:spcPct val="118000"/>
              </a:lnSpc>
              <a:spcAft>
                <a:spcPts val="1600"/>
              </a:spcAft>
              <a:buSzPct val="100000"/>
              <a:buChar char="•"/>
            </a:pPr>
            <a:r>
              <a:rPr lang="en-US" sz="1500" b="1" dirty="0">
                <a:solidFill>
                  <a:srgbClr val="4C1D95"/>
                </a:solidFill>
                <a:latin typeface="Segoe UI" pitchFamily="34" charset="0"/>
                <a:ea typeface="Segoe UI" pitchFamily="34" charset="-122"/>
                <a:cs typeface="Segoe UI" pitchFamily="34" charset="-120"/>
              </a:rPr>
              <a:t>Even the demo video is code — </a:t>
            </a:r>
            <a:pPr indent="0" marL="0">
              <a:lnSpc>
                <a:spcPct val="118000"/>
              </a:lnSpc>
              <a:spcAft>
                <a:spcPts val="1600"/>
              </a:spcAft>
              <a:buNone/>
            </a:pPr>
            <a:r>
              <a:rPr lang="en-US" sz="1500" dirty="0">
                <a:solidFill>
                  <a:srgbClr val="1F2430"/>
                </a:solidFill>
                <a:latin typeface="Segoe UI" pitchFamily="34" charset="0"/>
                <a:ea typeface="Segoe UI" pitchFamily="34" charset="-122"/>
                <a:cs typeface="Segoe UI" pitchFamily="34" charset="-120"/>
              </a:rPr>
              <a:t>Playwright-captured UI b-roll, voiceover synced by FFT audio cross-correlation, and an OpenCV face-blur step that fails closed rather than shipping an unblurred face.</a:t>
            </a:r>
            <a:endParaRPr lang="en-US" sz="150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44B5A"/>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22960" y="914400"/>
            <a:ext cx="6400800" cy="365760"/>
          </a:xfrm>
          <a:prstGeom prst="rect">
            <a:avLst/>
          </a:prstGeom>
          <a:noFill/>
          <a:ln/>
        </p:spPr>
        <p:txBody>
          <a:bodyPr wrap="square" rtlCol="0" anchor="ctr"/>
          <a:lstStyle/>
          <a:p>
            <a:pPr indent="0" marL="0">
              <a:buNone/>
            </a:pPr>
            <a:r>
              <a:rPr lang="en-US" sz="1400" b="1" spc="250" kern="0" dirty="0">
                <a:solidFill>
                  <a:srgbClr val="7DE8D3"/>
                </a:solidFill>
                <a:latin typeface="Segoe UI" pitchFamily="34" charset="0"/>
                <a:ea typeface="Segoe UI" pitchFamily="34" charset="-122"/>
                <a:cs typeface="Segoe UI" pitchFamily="34" charset="-120"/>
              </a:rPr>
              <a:t>STATUS</a:t>
            </a:r>
            <a:endParaRPr lang="en-US" sz="1400" dirty="0"/>
          </a:p>
        </p:txBody>
      </p:sp>
      <p:sp>
        <p:nvSpPr>
          <p:cNvPr id="3" name="Text 1"/>
          <p:cNvSpPr/>
          <p:nvPr/>
        </p:nvSpPr>
        <p:spPr>
          <a:xfrm>
            <a:off x="822960" y="1325880"/>
            <a:ext cx="10515600" cy="914400"/>
          </a:xfrm>
          <a:prstGeom prst="rect">
            <a:avLst/>
          </a:prstGeom>
          <a:noFill/>
          <a:ln/>
        </p:spPr>
        <p:txBody>
          <a:bodyPr wrap="square" rtlCol="0" anchor="ctr"/>
          <a:lstStyle/>
          <a:p>
            <a:pPr indent="0" marL="0">
              <a:buNone/>
            </a:pPr>
            <a:r>
              <a:rPr lang="en-US" sz="3800" b="1" dirty="0">
                <a:solidFill>
                  <a:srgbClr val="FFFFFF"/>
                </a:solidFill>
                <a:latin typeface="Segoe UI" pitchFamily="34" charset="0"/>
                <a:ea typeface="Segoe UI" pitchFamily="34" charset="-122"/>
                <a:cs typeface="Segoe UI" pitchFamily="34" charset="-120"/>
              </a:rPr>
              <a:t>Deployed, and heading into pilot</a:t>
            </a:r>
            <a:endParaRPr lang="en-US" sz="3800" dirty="0"/>
          </a:p>
        </p:txBody>
      </p:sp>
      <p:sp>
        <p:nvSpPr>
          <p:cNvPr id="4" name="Text 2"/>
          <p:cNvSpPr/>
          <p:nvPr/>
        </p:nvSpPr>
        <p:spPr>
          <a:xfrm>
            <a:off x="822960" y="2560320"/>
            <a:ext cx="10332720" cy="2468880"/>
          </a:xfrm>
          <a:prstGeom prst="rect">
            <a:avLst/>
          </a:prstGeom>
          <a:noFill/>
          <a:ln/>
        </p:spPr>
        <p:txBody>
          <a:bodyPr wrap="square" rtlCol="0" anchor="t"/>
          <a:lstStyle/>
          <a:p>
            <a:pPr algn="l" marL="177800" indent="-177800">
              <a:lnSpc>
                <a:spcPct val="112000"/>
              </a:lnSpc>
              <a:spcAft>
                <a:spcPts val="1400"/>
              </a:spcAft>
              <a:buSzPct val="100000"/>
              <a:buChar char="•"/>
            </a:pPr>
            <a:r>
              <a:rPr lang="en-US" sz="1700" dirty="0">
                <a:solidFill>
                  <a:srgbClr val="FFFFFF"/>
                </a:solidFill>
                <a:latin typeface="Segoe UI" pitchFamily="34" charset="0"/>
                <a:ea typeface="Segoe UI" pitchFamily="34" charset="-122"/>
                <a:cs typeface="Segoe UI" pitchFamily="34" charset="-120"/>
              </a:rPr>
              <a:t>Live today on Vercel + Railway + Supabase: creators upload from their phones, helpers join with a spoken 4-digit code, finished MP4s download from the cloud.</a:t>
            </a:r>
            <a:endParaRPr lang="en-US" sz="1700" dirty="0"/>
          </a:p>
          <a:p>
            <a:pPr algn="l" marL="177800" indent="-177800">
              <a:lnSpc>
                <a:spcPct val="112000"/>
              </a:lnSpc>
              <a:spcAft>
                <a:spcPts val="1400"/>
              </a:spcAft>
              <a:buSzPct val="100000"/>
              <a:buChar char="•"/>
            </a:pPr>
            <a:r>
              <a:rPr lang="en-US" sz="1700" dirty="0">
                <a:solidFill>
                  <a:srgbClr val="FFFFFF"/>
                </a:solidFill>
                <a:latin typeface="Segoe UI" pitchFamily="34" charset="0"/>
                <a:ea typeface="Segoe UI" pitchFamily="34" charset="-122"/>
                <a:cs typeface="Segoe UI" pitchFamily="34" charset="-120"/>
              </a:rPr>
              <a:t>Next step: an unsupervised pilot with blind and low-vision creators and the helpers they already trust — friends, family, community.</a:t>
            </a:r>
            <a:endParaRPr lang="en-US" sz="1700" dirty="0"/>
          </a:p>
          <a:p>
            <a:pPr algn="l" marL="177800" indent="-177800">
              <a:lnSpc>
                <a:spcPct val="112000"/>
              </a:lnSpc>
              <a:spcAft>
                <a:spcPts val="1400"/>
              </a:spcAft>
              <a:buSzPct val="100000"/>
              <a:buChar char="•"/>
            </a:pPr>
            <a:r>
              <a:rPr lang="en-US" sz="1700" dirty="0">
                <a:solidFill>
                  <a:srgbClr val="FFFFFF"/>
                </a:solidFill>
                <a:latin typeface="Segoe UI" pitchFamily="34" charset="0"/>
                <a:ea typeface="Segoe UI" pitchFamily="34" charset="-122"/>
                <a:cs typeface="Segoe UI" pitchFamily="34" charset="-120"/>
              </a:rPr>
              <a:t>Built at UCL × Senses Hub, productized from the video-collab-probe research platform (10 creator–helper pairs; the probe stays frozen as the study artifact).</a:t>
            </a:r>
            <a:endParaRPr lang="en-US" sz="1700" dirty="0"/>
          </a:p>
        </p:txBody>
      </p:sp>
      <p:sp>
        <p:nvSpPr>
          <p:cNvPr id="5" name="Text 3"/>
          <p:cNvSpPr/>
          <p:nvPr/>
        </p:nvSpPr>
        <p:spPr>
          <a:xfrm>
            <a:off x="822960" y="5486400"/>
            <a:ext cx="10515600" cy="822960"/>
          </a:xfrm>
          <a:prstGeom prst="rect">
            <a:avLst/>
          </a:prstGeom>
          <a:noFill/>
          <a:ln/>
        </p:spPr>
        <p:txBody>
          <a:bodyPr wrap="square" rtlCol="0" anchor="ctr"/>
          <a:lstStyle/>
          <a:p>
            <a:pPr indent="0" marL="0">
              <a:lnSpc>
                <a:spcPct val="115000"/>
              </a:lnSpc>
              <a:spcAft>
                <a:spcPts val="400"/>
              </a:spcAft>
              <a:buNone/>
            </a:pPr>
            <a:r>
              <a:rPr lang="en-US" sz="1400" dirty="0">
                <a:solidFill>
                  <a:srgbClr val="CBB8F0"/>
                </a:solidFill>
                <a:latin typeface="Segoe UI" pitchFamily="34" charset="0"/>
                <a:ea typeface="Segoe UI" pitchFamily="34" charset="-122"/>
                <a:cs typeface="Segoe UI" pitchFamily="34" charset="-120"/>
              </a:rPr>
              <a:t>React 19 · Vite · Tailwind 4 · Supabase (Auth · Postgres/RLS · Storage · Realtime)</a:t>
            </a:r>
            <a:endParaRPr lang="en-US" sz="1400" dirty="0"/>
          </a:p>
          <a:p>
            <a:pPr indent="0" marL="0">
              <a:lnSpc>
                <a:spcPct val="115000"/>
              </a:lnSpc>
              <a:buNone/>
            </a:pPr>
            <a:r>
              <a:rPr lang="en-US" sz="1400" dirty="0">
                <a:solidFill>
                  <a:srgbClr val="CBB8F0"/>
                </a:solidFill>
                <a:latin typeface="Segoe UI" pitchFamily="34" charset="0"/>
                <a:ea typeface="Segoe UI" pitchFamily="34" charset="-122"/>
                <a:cs typeface="Segoe UI" pitchFamily="34" charset="-120"/>
              </a:rPr>
              <a:t>Express 5 · FFmpeg · Gemini 2.5 Flash · Playwright · Vitest</a:t>
            </a:r>
            <a:endParaRPr lang="en-US" sz="1400" dirty="0"/>
          </a:p>
        </p:txBody>
      </p:sp>
      <p:sp>
        <p:nvSpPr>
          <p:cNvPr id="25" name="Slide Number Placeholder 0"/>
          <p:cNvSpPr>
            <a:spLocks noGrp="1"/>
          </p:cNvSpPr>
          <p:nvPr>
            <p:ph type="sldNum" sz="quarter" idx="4294967295"/>
          </p:nvPr>
        </p:nvSpPr>
        <p:spPr>
          <a:xfrm>
            <a:off x="11475720" y="6419088"/>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BB8F0"/>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UCL × Senses 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Collab — technical introduction</dc:title>
  <dc:subject>Collaborative video editing for blind and low-vision creators</dc:subject>
  <dc:creator>Video Collab team</dc:creator>
  <cp:lastModifiedBy>Video Collab team</cp:lastModifiedBy>
  <cp:revision>1</cp:revision>
  <dcterms:created xsi:type="dcterms:W3CDTF">2026-07-03T17:27:29Z</dcterms:created>
  <dcterms:modified xsi:type="dcterms:W3CDTF">2026-07-03T17:27:29Z</dcterms:modified>
</cp:coreProperties>
</file>